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5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8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1F33"/>
                </a:solidFill>
                <a:latin typeface="Aptos Display"/>
              </a:defRPr>
            </a:pPr>
            <a:r>
              <a:rPr sz="1200" b="0" i="0" u="none" strike="noStrike">
                <a:solidFill>
                  <a:srgbClr val="0B1F33"/>
                </a:solidFill>
                <a:latin typeface="Aptos Display"/>
              </a:rPr>
              <a:t>Receita trimestral observada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Receita (R$ mi)</c:v>
                </c:pt>
              </c:strCache>
            </c:strRef>
          </c:tx>
          <c:spPr>
            <a:solidFill>
              <a:srgbClr val="1AA6A6"/>
            </a:solidFill>
            <a:ln w="31750" cap="flat">
              <a:solidFill>
                <a:srgbClr val="1AA6A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AA6A6"/>
              </a:solidFill>
              <a:ln w="9525" cap="flat">
                <a:solidFill>
                  <a:srgbClr val="1AA6A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2017Q1</c:v>
                  </c:pt>
                  <c:pt idx="1">
                    <c:v>2017Q2</c:v>
                  </c:pt>
                  <c:pt idx="2">
                    <c:v>2017Q3</c:v>
                  </c:pt>
                  <c:pt idx="3">
                    <c:v>2017Q4</c:v>
                  </c:pt>
                  <c:pt idx="4">
                    <c:v>2018Q1</c:v>
                  </c:pt>
                  <c:pt idx="5">
                    <c:v>2018Q2</c:v>
                  </c:pt>
                  <c:pt idx="6">
                    <c:v>2018Q3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0.81</c:v>
                </c:pt>
                <c:pt idx="1">
                  <c:v>1.45</c:v>
                </c:pt>
                <c:pt idx="2">
                  <c:v>1.91</c:v>
                </c:pt>
                <c:pt idx="3">
                  <c:v>2.75</c:v>
                </c:pt>
                <c:pt idx="4">
                  <c:v>3.17</c:v>
                </c:pt>
                <c:pt idx="5">
                  <c:v>3.27</c:v>
                </c:pt>
                <c:pt idx="6">
                  <c:v>2.01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67085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E9EE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67085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1F33"/>
                </a:solidFill>
                <a:latin typeface="Aptos Display"/>
              </a:defRPr>
            </a:pPr>
            <a:r>
              <a:rPr sz="1200" b="0" i="0" u="none" strike="noStrike">
                <a:solidFill>
                  <a:srgbClr val="0B1F33"/>
                </a:solidFill>
                <a:latin typeface="Aptos Display"/>
              </a:rPr>
              <a:t>Concentração de receita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Participação da receita</c:v>
                </c:pt>
              </c:strCache>
            </c:strRef>
          </c:tx>
          <c:spPr>
            <a:solidFill>
              <a:srgbClr val="FFB02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Top 10%</c:v>
                  </c:pt>
                  <c:pt idx="1">
                    <c:v>Top 20%</c:v>
                  </c:pt>
                  <c:pt idx="2">
                    <c:v>Restante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38.3</c:v>
                </c:pt>
                <c:pt idx="1">
                  <c:v>15.3</c:v>
                </c:pt>
                <c:pt idx="2">
                  <c:v>46.5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67085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12700" cap="flat">
              <a:solidFill>
                <a:srgbClr val="E9EE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67085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1F33"/>
                </a:solidFill>
                <a:latin typeface="Aptos Display"/>
              </a:defRPr>
            </a:pPr>
            <a:r>
              <a:rPr sz="1200" b="0" i="0" u="none" strike="noStrike">
                <a:solidFill>
                  <a:srgbClr val="0B1F33"/>
                </a:solidFill>
                <a:latin typeface="Aptos Display"/>
              </a:rPr>
              <a:t>Meio de pagamento: valor vs pedidos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Participação financeira</c:v>
                </c:pt>
              </c:strCache>
            </c:strRef>
          </c:tx>
          <c:spPr>
            <a:solidFill>
              <a:srgbClr val="1AA6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Cartão</c:v>
                  </c:pt>
                  <c:pt idx="1">
                    <c:v>Boleto</c:v>
                  </c:pt>
                  <c:pt idx="2">
                    <c:v>Voucher</c:v>
                  </c:pt>
                  <c:pt idx="3">
                    <c:v>Débito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78.3</c:v>
                </c:pt>
                <c:pt idx="1">
                  <c:v>17.9</c:v>
                </c:pt>
                <c:pt idx="2">
                  <c:v>2.4</c:v>
                </c:pt>
                <c:pt idx="3">
                  <c:v>1.4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Participação em pedidos</c:v>
                </c:pt>
              </c:strCache>
            </c:strRef>
          </c:tx>
          <c:spPr>
            <a:solidFill>
              <a:srgbClr val="FFB02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Cartão</c:v>
                  </c:pt>
                  <c:pt idx="1">
                    <c:v>Boleto</c:v>
                  </c:pt>
                  <c:pt idx="2">
                    <c:v>Voucher</c:v>
                  </c:pt>
                  <c:pt idx="3">
                    <c:v>Débito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76.9</c:v>
                </c:pt>
                <c:pt idx="1">
                  <c:v>19.9</c:v>
                </c:pt>
                <c:pt idx="2">
                  <c:v>3.9</c:v>
                </c:pt>
                <c:pt idx="3">
                  <c:v>1.5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67085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"/>
        </c:scaling>
        <c:delete val="0"/>
        <c:axPos val="l"/>
        <c:majorGridlines>
          <c:spPr>
            <a:ln w="12700" cap="flat">
              <a:solidFill>
                <a:srgbClr val="E9EE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67085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1F33"/>
                </a:solidFill>
                <a:latin typeface="Aptos Display"/>
              </a:defRPr>
            </a:pPr>
            <a:r>
              <a:rPr sz="1200" b="0" i="0" u="none" strike="noStrike">
                <a:solidFill>
                  <a:srgbClr val="0B1F33"/>
                </a:solidFill>
                <a:latin typeface="Aptos Display"/>
              </a:rPr>
              <a:t>Ticket médio por faixa de parcelas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Ticket médio</c:v>
                </c:pt>
              </c:strCache>
            </c:strRef>
          </c:tx>
          <c:spPr>
            <a:solidFill>
              <a:srgbClr val="2F80E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1x/à vista</c:v>
                  </c:pt>
                  <c:pt idx="1">
                    <c:v>2–3x</c:v>
                  </c:pt>
                  <c:pt idx="2">
                    <c:v>4–6x</c:v>
                  </c:pt>
                  <c:pt idx="3">
                    <c:v>7–12x</c:v>
                  </c:pt>
                  <c:pt idx="4">
                    <c:v>13+x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121</c:v>
                </c:pt>
                <c:pt idx="1">
                  <c:v>136</c:v>
                </c:pt>
                <c:pt idx="2">
                  <c:v>183</c:v>
                </c:pt>
                <c:pt idx="3">
                  <c:v>336</c:v>
                </c:pt>
                <c:pt idx="4">
                  <c:v>416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67085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9EE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67085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1F33"/>
                </a:solidFill>
                <a:latin typeface="Aptos Display"/>
              </a:defRPr>
            </a:pPr>
            <a:r>
              <a:rPr sz="1200" b="0" i="0" u="none" strike="noStrike">
                <a:solidFill>
                  <a:srgbClr val="0B1F33"/>
                </a:solidFill>
                <a:latin typeface="Aptos Display"/>
              </a:rPr>
              <a:t>Receita por segmento RFM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de receita</c:v>
                </c:pt>
              </c:strCache>
            </c:strRef>
          </c:tx>
          <c:spPr>
            <a:solidFill>
              <a:srgbClr val="1AA6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New High Value</c:v>
                  </c:pt>
                  <c:pt idx="1">
                    <c:v>At Risk High Value</c:v>
                  </c:pt>
                  <c:pt idx="2">
                    <c:v>Middle / Monitor</c:v>
                  </c:pt>
                  <c:pt idx="3">
                    <c:v>Inactive / Low Value</c:v>
                  </c:pt>
                  <c:pt idx="4">
                    <c:v>Recent One-time</c:v>
                  </c:pt>
                  <c:pt idx="5">
                    <c:v>Champions</c:v>
                  </c:pt>
                  <c:pt idx="6">
                    <c:v>Can't Lose Them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28.2</c:v>
                </c:pt>
                <c:pt idx="1">
                  <c:v>27.5</c:v>
                </c:pt>
                <c:pt idx="2">
                  <c:v>18.9</c:v>
                </c:pt>
                <c:pt idx="3">
                  <c:v>10.6</c:v>
                </c:pt>
                <c:pt idx="4">
                  <c:v>10.3</c:v>
                </c:pt>
                <c:pt idx="5">
                  <c:v>2.4</c:v>
                </c:pt>
                <c:pt idx="6">
                  <c:v>1.7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40" b="0" i="0" u="none" strike="noStrike">
                <a:solidFill>
                  <a:srgbClr val="667085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"/>
        </c:scaling>
        <c:delete val="0"/>
        <c:axPos val="l"/>
        <c:majorGridlines>
          <c:spPr>
            <a:ln w="12700" cap="flat">
              <a:solidFill>
                <a:srgbClr val="E9EE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67085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1F33"/>
                </a:solidFill>
                <a:latin typeface="Aptos Display"/>
              </a:defRPr>
            </a:pPr>
            <a:r>
              <a:rPr sz="1200" b="0" i="0" u="none" strike="noStrike">
                <a:solidFill>
                  <a:srgbClr val="0B1F33"/>
                </a:solidFill>
                <a:latin typeface="Aptos Display"/>
              </a:rPr>
              <a:t>Recompra por janela elegível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Taxa de recompra</c:v>
                </c:pt>
              </c:strCache>
            </c:strRef>
          </c:tx>
          <c:spPr>
            <a:solidFill>
              <a:srgbClr val="FFB02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30d</c:v>
                  </c:pt>
                  <c:pt idx="1">
                    <c:v>60d</c:v>
                  </c:pt>
                  <c:pt idx="2">
                    <c:v>90d</c:v>
                  </c:pt>
                  <c:pt idx="3">
                    <c:v>180d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1.59</c:v>
                </c:pt>
                <c:pt idx="1">
                  <c:v>1.96</c:v>
                </c:pt>
                <c:pt idx="2">
                  <c:v>2.28</c:v>
                </c:pt>
                <c:pt idx="3">
                  <c:v>3.12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67085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.2"/>
        </c:scaling>
        <c:delete val="0"/>
        <c:axPos val="l"/>
        <c:majorGridlines>
          <c:spPr>
            <a:ln w="12700" cap="flat">
              <a:solidFill>
                <a:srgbClr val="E9EE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67085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1F33"/>
                </a:solidFill>
                <a:latin typeface="Aptos Display"/>
              </a:defRPr>
            </a:pPr>
            <a:r>
              <a:rPr sz="1200" b="0" i="0" u="none" strike="noStrike">
                <a:solidFill>
                  <a:srgbClr val="0B1F33"/>
                </a:solidFill>
                <a:latin typeface="Aptos Display"/>
              </a:rPr>
              <a:t>Recompra 90d por parcelas da 1ª compra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Recompra 90d</c:v>
                </c:pt>
              </c:strCache>
            </c:strRef>
          </c:tx>
          <c:spPr>
            <a:solidFill>
              <a:srgbClr val="2F80E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1x/à vista</c:v>
                  </c:pt>
                  <c:pt idx="1">
                    <c:v>2–3x</c:v>
                  </c:pt>
                  <c:pt idx="2">
                    <c:v>4–6x</c:v>
                  </c:pt>
                  <c:pt idx="3">
                    <c:v>7–12x</c:v>
                  </c:pt>
                  <c:pt idx="4">
                    <c:v>13+x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2.1</c:v>
                </c:pt>
                <c:pt idx="1">
                  <c:v>2.22</c:v>
                </c:pt>
                <c:pt idx="2">
                  <c:v>2.34</c:v>
                </c:pt>
                <c:pt idx="3">
                  <c:v>3.02</c:v>
                </c:pt>
                <c:pt idx="4">
                  <c:v>4.76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67085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.5"/>
        </c:scaling>
        <c:delete val="0"/>
        <c:axPos val="l"/>
        <c:majorGridlines>
          <c:spPr>
            <a:ln w="12700" cap="flat">
              <a:solidFill>
                <a:srgbClr val="E9EE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67085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1F33"/>
                </a:solidFill>
                <a:latin typeface="Aptos Display"/>
              </a:defRPr>
            </a:pPr>
            <a:r>
              <a:rPr sz="1200" b="0" i="0" u="none" strike="noStrike">
                <a:solidFill>
                  <a:srgbClr val="0B1F33"/>
                </a:solidFill>
                <a:latin typeface="Aptos Display"/>
              </a:rPr>
              <a:t>Recompra acumulada — coortes com 12 meses completos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Recompra acumulada</c:v>
                </c:pt>
              </c:strCache>
            </c:strRef>
          </c:tx>
          <c:spPr>
            <a:solidFill>
              <a:srgbClr val="1AA6A6"/>
            </a:solidFill>
            <a:ln w="31750" cap="flat">
              <a:solidFill>
                <a:srgbClr val="1AA6A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AA6A6"/>
              </a:solidFill>
              <a:ln w="9525" cap="flat">
                <a:solidFill>
                  <a:srgbClr val="1AA6A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M1</c:v>
                  </c:pt>
                  <c:pt idx="1">
                    <c:v>M2</c:v>
                  </c:pt>
                  <c:pt idx="2">
                    <c:v>M3</c:v>
                  </c:pt>
                  <c:pt idx="3">
                    <c:v>M4</c:v>
                  </c:pt>
                  <c:pt idx="4">
                    <c:v>M5</c:v>
                  </c:pt>
                  <c:pt idx="5">
                    <c:v>M6</c:v>
                  </c:pt>
                  <c:pt idx="6">
                    <c:v>M7</c:v>
                  </c:pt>
                  <c:pt idx="7">
                    <c:v>M8</c:v>
                  </c:pt>
                  <c:pt idx="8">
                    <c:v>M9</c:v>
                  </c:pt>
                  <c:pt idx="9">
                    <c:v>M10</c:v>
                  </c:pt>
                  <c:pt idx="10">
                    <c:v>M11</c:v>
                  </c:pt>
                  <c:pt idx="11">
                    <c:v>M12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1.95</c:v>
                </c:pt>
                <c:pt idx="1">
                  <c:v>2.32</c:v>
                </c:pt>
                <c:pt idx="2">
                  <c:v>2.6</c:v>
                </c:pt>
                <c:pt idx="3">
                  <c:v>2.86</c:v>
                </c:pt>
                <c:pt idx="4">
                  <c:v>3.09</c:v>
                </c:pt>
                <c:pt idx="5">
                  <c:v>3.38</c:v>
                </c:pt>
                <c:pt idx="6">
                  <c:v>3.63</c:v>
                </c:pt>
                <c:pt idx="7">
                  <c:v>3.8</c:v>
                </c:pt>
                <c:pt idx="8">
                  <c:v>3.96</c:v>
                </c:pt>
                <c:pt idx="9">
                  <c:v>4.19</c:v>
                </c:pt>
                <c:pt idx="10">
                  <c:v>4.35</c:v>
                </c:pt>
                <c:pt idx="11">
                  <c:v>4.53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67085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</c:scaling>
        <c:delete val="0"/>
        <c:axPos val="l"/>
        <c:majorGridlines>
          <c:spPr>
            <a:ln w="12700" cap="flat">
              <a:solidFill>
                <a:srgbClr val="E9EE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67085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1F33"/>
                </a:solidFill>
                <a:latin typeface="Aptos Display"/>
              </a:defRPr>
            </a:pPr>
            <a:r>
              <a:rPr sz="1200" b="0" i="0" u="none" strike="noStrike">
                <a:solidFill>
                  <a:srgbClr val="0B1F33"/>
                </a:solidFill>
                <a:latin typeface="Aptos Display"/>
              </a:rPr>
              <a:t>Taxa observada por público priorizado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Recompra observada</c:v>
                </c:pt>
              </c:strCache>
            </c:strRef>
          </c:tx>
          <c:spPr>
            <a:solidFill>
              <a:srgbClr val="1AA6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Top 5%</c:v>
                  </c:pt>
                  <c:pt idx="1">
                    <c:v>Top 10%</c:v>
                  </c:pt>
                  <c:pt idx="2">
                    <c:v>Top 20%</c:v>
                  </c:pt>
                  <c:pt idx="3">
                    <c:v>Top 30%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4.08</c:v>
                </c:pt>
                <c:pt idx="1">
                  <c:v>3.19</c:v>
                </c:pt>
                <c:pt idx="2">
                  <c:v>2.74</c:v>
                </c:pt>
                <c:pt idx="3">
                  <c:v>2.45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67085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</c:scaling>
        <c:delete val="0"/>
        <c:axPos val="l"/>
        <c:majorGridlines>
          <c:spPr>
            <a:ln w="12700" cap="flat">
              <a:solidFill>
                <a:srgbClr val="E9EE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67085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1F33"/>
                </a:solidFill>
                <a:latin typeface="Aptos Display"/>
              </a:defRPr>
            </a:pPr>
            <a:r>
              <a:rPr sz="1200" b="0" i="0" u="none" strike="noStrike">
                <a:solidFill>
                  <a:srgbClr val="0B1F33"/>
                </a:solidFill>
                <a:latin typeface="Aptos Display"/>
              </a:rPr>
              <a:t>Lift vs média do teste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Lift</c:v>
                </c:pt>
              </c:strCache>
            </c:strRef>
          </c:tx>
          <c:spPr>
            <a:solidFill>
              <a:srgbClr val="FFB020"/>
            </a:solidFill>
            <a:ln w="31750" cap="flat">
              <a:solidFill>
                <a:srgbClr val="FFB02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B020"/>
              </a:solidFill>
              <a:ln w="9525" cap="flat">
                <a:solidFill>
                  <a:srgbClr val="FFB02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Top 5%</c:v>
                  </c:pt>
                  <c:pt idx="1">
                    <c:v>Top 10%</c:v>
                  </c:pt>
                  <c:pt idx="2">
                    <c:v>Top 20%</c:v>
                  </c:pt>
                  <c:pt idx="3">
                    <c:v>Top 30%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2.36</c:v>
                </c:pt>
                <c:pt idx="1">
                  <c:v>1.85</c:v>
                </c:pt>
                <c:pt idx="2">
                  <c:v>1.59</c:v>
                </c:pt>
                <c:pt idx="3">
                  <c:v>1.42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67085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.7"/>
        </c:scaling>
        <c:delete val="0"/>
        <c:axPos val="l"/>
        <c:majorGridlines>
          <c:spPr>
            <a:ln w="12700" cap="flat">
              <a:solidFill>
                <a:srgbClr val="E9EE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67085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chart" Target="/ppt/charts/chart10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0"/>
            <a:ext cx="3962095" cy="6858000"/>
          </a:xfrm>
          <a:prstGeom prst="rect">
            <a:avLst/>
          </a:prstGeom>
          <a:solidFill>
            <a:srgbClr val="1AA6A6">
              <a:alpha val="92000"/>
            </a:srgbClr>
          </a:solidFill>
          <a:ln w="12700">
            <a:solidFill>
              <a:srgbClr val="1AA6A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32520" y="777240"/>
            <a:ext cx="1298448" cy="1298448"/>
          </a:xfrm>
          <a:prstGeom prst="ellipse">
            <a:avLst/>
          </a:prstGeom>
          <a:solidFill>
            <a:srgbClr val="FFB020">
              <a:alpha val="80000"/>
            </a:srgbClr>
          </a:solidFill>
          <a:ln w="12700">
            <a:solidFill>
              <a:srgbClr val="FFB02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95560" y="2212848"/>
            <a:ext cx="1051560" cy="105156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34272" y="4370832"/>
            <a:ext cx="1481328" cy="1481328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960120"/>
            <a:ext cx="7040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Customer &amp; Payment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Intelligence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94944" y="2505456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6E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Olist Brazilian E-Commerce Dataset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94944" y="2907792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6C8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Pagamentos • RFM • Recompra • Coortes • Propensão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94944" y="3429000"/>
            <a:ext cx="6172200" cy="0"/>
          </a:xfrm>
          <a:prstGeom prst="line">
            <a:avLst/>
          </a:prstGeom>
          <a:noFill/>
          <a:ln w="12700">
            <a:solidFill>
              <a:srgbClr val="6DD3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" y="37947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B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Tese executiva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94944" y="4114800"/>
            <a:ext cx="6766560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base ganhou escala em aquisição, mas a criação de valor recorrente é limitada. A principal alavanca é converter a primeira compra em segunda compra nos primeiros 30–90 dias.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694944" y="5742432"/>
            <a:ext cx="1234440" cy="274320"/>
          </a:xfrm>
          <a:prstGeom prst="roundRect">
            <a:avLst>
              <a:gd name="adj" fmla="val 20000"/>
            </a:avLst>
          </a:prstGeom>
          <a:solidFill>
            <a:srgbClr val="2F80ED">
              <a:alpha val="95000"/>
            </a:srgbClr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" y="5806440"/>
            <a:ext cx="1088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Projeto acadêmico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057400" y="5742432"/>
            <a:ext cx="1600200" cy="274320"/>
          </a:xfrm>
          <a:prstGeom prst="roundRect">
            <a:avLst>
              <a:gd name="adj" fmla="val 20000"/>
            </a:avLst>
          </a:prstGeom>
          <a:solidFill>
            <a:srgbClr val="0E7C7B">
              <a:alpha val="95000"/>
            </a:srgbClr>
          </a:solidFill>
          <a:ln w="12700">
            <a:solidFill>
              <a:srgbClr val="0E7C7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30552" y="580644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2016–2018 histórico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822192" y="5742432"/>
            <a:ext cx="2011680" cy="274320"/>
          </a:xfrm>
          <a:prstGeom prst="roundRect">
            <a:avLst>
              <a:gd name="adj" fmla="val 20000"/>
            </a:avLst>
          </a:prstGeom>
          <a:solidFill>
            <a:srgbClr val="FFB020">
              <a:alpha val="95000"/>
            </a:srgbClr>
          </a:solidFill>
          <a:ln w="12700">
            <a:solidFill>
              <a:srgbClr val="FFB020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95344" y="5806440"/>
            <a:ext cx="1865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Investidores &amp; acionistas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94944" y="6217920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6C8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Dados históricos do Brazilian E-Commerce Public Dataset by Olist. Resultados descrevem a amostra estudada.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Projeto acadêmico | Brazilian E-Commerce Public Dataset by Olist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Resumo executivo: escala existe; recorrência falta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521208" y="97840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amostra histórica mostra boa escala transacional, mas poucos clientes voltam a comprar.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353312"/>
            <a:ext cx="11155680" cy="0"/>
          </a:xfrm>
          <a:prstGeom prst="line">
            <a:avLst/>
          </a:prstGeom>
          <a:noFill/>
          <a:ln w="7620">
            <a:solidFill>
              <a:srgbClr val="D0D5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627632"/>
            <a:ext cx="21488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792224"/>
            <a:ext cx="1856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A6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96,5 mil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13232" y="2157984"/>
            <a:ext cx="1856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pedidos entregues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13232" y="2350008"/>
            <a:ext cx="1856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para comportamento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2907792" y="1627632"/>
            <a:ext cx="21488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54096" y="1792224"/>
            <a:ext cx="1856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80E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93,4 mil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054096" y="2157984"/>
            <a:ext cx="1856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clientes únicos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054096" y="2350008"/>
            <a:ext cx="1856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customer_unique_id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248656" y="1627632"/>
            <a:ext cx="21488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4960" y="1792224"/>
            <a:ext cx="1856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B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R$ 15,4 mi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394960" y="2157984"/>
            <a:ext cx="1856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receita observada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394960" y="2350008"/>
            <a:ext cx="1856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payment_value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7589520" y="1627632"/>
            <a:ext cx="21488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35824" y="1792224"/>
            <a:ext cx="1856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645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3,0%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735824" y="2157984"/>
            <a:ext cx="1856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clientes recorrentes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735824" y="2350008"/>
            <a:ext cx="1856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2+ pedidos</a:t>
            </a:r>
            <a:endParaRPr lang="en-US" sz="70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658368" y="2788920"/>
          <a:ext cx="66294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3" name="Shape 20"/>
          <p:cNvSpPr/>
          <p:nvPr/>
        </p:nvSpPr>
        <p:spPr>
          <a:xfrm>
            <a:off x="7635240" y="2834640"/>
            <a:ext cx="38862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635240" y="2834640"/>
            <a:ext cx="73152" cy="1234440"/>
          </a:xfrm>
          <a:prstGeom prst="rect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836408" y="2999232"/>
            <a:ext cx="3566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Mensagem para investidores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7836408" y="3310128"/>
            <a:ext cx="35661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volume comercial cresceu até 2018, mas a recorrência ainda não acompanha a escala de aquisição. Valor futuro depende de elevar a segunda compra e o relacionamento.</a:t>
            </a:r>
            <a:endParaRPr lang="en-US" sz="940" dirty="0"/>
          </a:p>
        </p:txBody>
      </p:sp>
      <p:sp>
        <p:nvSpPr>
          <p:cNvPr id="27" name="Shape 24"/>
          <p:cNvSpPr/>
          <p:nvPr/>
        </p:nvSpPr>
        <p:spPr>
          <a:xfrm>
            <a:off x="7635240" y="4343400"/>
            <a:ext cx="38862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635240" y="4343400"/>
            <a:ext cx="73152" cy="868680"/>
          </a:xfrm>
          <a:prstGeom prst="rect">
            <a:avLst/>
          </a:prstGeom>
          <a:solidFill>
            <a:srgbClr val="1AA6A6"/>
          </a:solidFill>
          <a:ln w="12700">
            <a:solidFill>
              <a:srgbClr val="1AA6A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836408" y="4507992"/>
            <a:ext cx="3566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Cuidado analítico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7836408" y="4818888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Pagamentos e itens foram agregados por pedido antes dos joins para evitar dupla contagem de receita.</a:t>
            </a:r>
            <a:endParaRPr lang="en-US" sz="940" dirty="0"/>
          </a:p>
        </p:txBody>
      </p:sp>
      <p:sp>
        <p:nvSpPr>
          <p:cNvPr id="31" name="Text 28"/>
          <p:cNvSpPr/>
          <p:nvPr/>
        </p:nvSpPr>
        <p:spPr>
          <a:xfrm>
            <a:off x="658368" y="574243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67085"/>
                </a:solidFill>
              </a:rPr>
              <a:t>Fonte: notebooks 01–06, Olist dataset histórico.</a:t>
            </a:r>
            <a:endParaRPr lang="en-US" sz="650" dirty="0"/>
          </a:p>
        </p:txBody>
      </p:sp>
      <p:sp>
        <p:nvSpPr>
          <p:cNvPr id="32" name="Shape 29"/>
          <p:cNvSpPr/>
          <p:nvPr/>
        </p:nvSpPr>
        <p:spPr>
          <a:xfrm>
            <a:off x="502920" y="6519672"/>
            <a:ext cx="11155680" cy="0"/>
          </a:xfrm>
          <a:prstGeom prst="line">
            <a:avLst/>
          </a:prstGeom>
          <a:noFill/>
          <a:ln w="5080">
            <a:solidFill>
              <a:srgbClr val="D0D5DD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02920" y="6601968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Customer &amp; Payment Intelligence — Olist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11283696" y="658368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7085"/>
                </a:solidFill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Projeto acadêmico | Brazilian E-Commerce Public Dataset by Olist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Diagnóstico: recompra é rara e valor é concentrado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521208" y="97840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operação se comporta mais como aquisição transacional do que como base recorrente.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353312"/>
            <a:ext cx="11155680" cy="0"/>
          </a:xfrm>
          <a:prstGeom prst="line">
            <a:avLst/>
          </a:prstGeom>
          <a:noFill/>
          <a:ln w="7620">
            <a:solidFill>
              <a:srgbClr val="D0D5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6002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645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3,0%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85800" y="222199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4054"/>
                </a:solidFill>
              </a:rPr>
              <a:t>clientes com 2+ pedidos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85800" y="2487168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A maioria absoluta comprou uma única vez no período observado.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58368" y="3310128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B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53,5%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685800" y="394106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4054"/>
                </a:solidFill>
              </a:rPr>
              <a:t>da receita nos top 20%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85800" y="420624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A criação de valor está concentrada em uma fração da base.</a:t>
            </a:r>
            <a:endParaRPr lang="en-US" sz="95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3657600" y="1783080"/>
          <a:ext cx="406908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Shape 10"/>
          <p:cNvSpPr/>
          <p:nvPr/>
        </p:nvSpPr>
        <p:spPr>
          <a:xfrm>
            <a:off x="8001000" y="1847088"/>
            <a:ext cx="3456432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001000" y="1847088"/>
            <a:ext cx="73152" cy="1325880"/>
          </a:xfrm>
          <a:prstGeom prst="rect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02168" y="2011680"/>
            <a:ext cx="31363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Implicação estratégica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8202168" y="2322576"/>
            <a:ext cx="313639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alavanca de valor não é somente adquirir mais clientes: é aumentar a conversão da primeira compra em relacionamento recorrente.</a:t>
            </a:r>
            <a:endParaRPr lang="en-US" sz="940" dirty="0"/>
          </a:p>
        </p:txBody>
      </p:sp>
      <p:sp>
        <p:nvSpPr>
          <p:cNvPr id="17" name="Shape 14"/>
          <p:cNvSpPr/>
          <p:nvPr/>
        </p:nvSpPr>
        <p:spPr>
          <a:xfrm>
            <a:off x="8001000" y="3493008"/>
            <a:ext cx="3456432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001000" y="3493008"/>
            <a:ext cx="73152" cy="132588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02168" y="3657600"/>
            <a:ext cx="31363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Oportunidade RFM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8202168" y="3968496"/>
            <a:ext cx="313639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Segmentos de alto valor em risco concentram ~29,4% da receita histórica. Isso justifica ações de retenção e win-back seletivas.</a:t>
            </a:r>
            <a:endParaRPr lang="en-US" sz="940" dirty="0"/>
          </a:p>
        </p:txBody>
      </p:sp>
      <p:sp>
        <p:nvSpPr>
          <p:cNvPr id="21" name="Shape 18"/>
          <p:cNvSpPr/>
          <p:nvPr/>
        </p:nvSpPr>
        <p:spPr>
          <a:xfrm>
            <a:off x="502920" y="6519672"/>
            <a:ext cx="11155680" cy="0"/>
          </a:xfrm>
          <a:prstGeom prst="line">
            <a:avLst/>
          </a:prstGeom>
          <a:noFill/>
          <a:ln w="5080">
            <a:solidFill>
              <a:srgbClr val="D0D5D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2920" y="6601968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Customer &amp; Payment Intelligence — Olist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11283696" y="658368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7085"/>
                </a:solidFill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Projeto acadêmico | Brazilian E-Commerce Public Dataset by Olist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Pagamentos: cartão domina valor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521208" y="97840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comportamento financeiro ajuda a entender conversão, ticket e estratégia comercial.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353312"/>
            <a:ext cx="11155680" cy="0"/>
          </a:xfrm>
          <a:prstGeom prst="line">
            <a:avLst/>
          </a:prstGeom>
          <a:noFill/>
          <a:ln w="7620">
            <a:solidFill>
              <a:srgbClr val="D0D5DD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621792" y="1691640"/>
          <a:ext cx="502920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6080760" y="1691640"/>
          <a:ext cx="544068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658368" y="5257800"/>
            <a:ext cx="52578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658368" y="5257800"/>
            <a:ext cx="73152" cy="658368"/>
          </a:xfrm>
          <a:prstGeom prst="rect">
            <a:avLst/>
          </a:prstGeom>
          <a:solidFill>
            <a:srgbClr val="1AA6A6"/>
          </a:solidFill>
          <a:ln w="12700">
            <a:solidFill>
              <a:srgbClr val="1AA6A6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59536" y="5422392"/>
            <a:ext cx="4937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Leitura executiva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859536" y="5733288"/>
            <a:ext cx="4937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Cartão responde por 78,3% do valor pago. Compras em 7–12x têm ticket médio muito superior, sugerindo que parcelamento é parte relevante da monetização.</a:t>
            </a:r>
            <a:endParaRPr lang="en-US" sz="940" dirty="0"/>
          </a:p>
        </p:txBody>
      </p:sp>
      <p:sp>
        <p:nvSpPr>
          <p:cNvPr id="12" name="Shape 8"/>
          <p:cNvSpPr/>
          <p:nvPr/>
        </p:nvSpPr>
        <p:spPr>
          <a:xfrm>
            <a:off x="6217920" y="5257800"/>
            <a:ext cx="52578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217920" y="5257800"/>
            <a:ext cx="73152" cy="658368"/>
          </a:xfrm>
          <a:prstGeom prst="rect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419088" y="5422392"/>
            <a:ext cx="4937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Uso para decisão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6419088" y="5733288"/>
            <a:ext cx="4937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Meios de pagamento devem ser tratados como alavancas de conversão e features auxiliares de propensão, não como explicação isolada de recompra.</a:t>
            </a:r>
            <a:endParaRPr lang="en-US" sz="940" dirty="0"/>
          </a:p>
        </p:txBody>
      </p:sp>
      <p:sp>
        <p:nvSpPr>
          <p:cNvPr id="16" name="Shape 12"/>
          <p:cNvSpPr/>
          <p:nvPr/>
        </p:nvSpPr>
        <p:spPr>
          <a:xfrm>
            <a:off x="502920" y="6519672"/>
            <a:ext cx="11155680" cy="0"/>
          </a:xfrm>
          <a:prstGeom prst="line">
            <a:avLst/>
          </a:prstGeom>
          <a:noFill/>
          <a:ln w="5080">
            <a:solidFill>
              <a:srgbClr val="D0D5DD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02920" y="6601968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Customer &amp; Payment Intelligence — Olist</a:t>
            </a:r>
            <a:endParaRPr lang="en-US" sz="750" dirty="0"/>
          </a:p>
        </p:txBody>
      </p:sp>
      <p:sp>
        <p:nvSpPr>
          <p:cNvPr id="18" name="Text 14"/>
          <p:cNvSpPr/>
          <p:nvPr/>
        </p:nvSpPr>
        <p:spPr>
          <a:xfrm>
            <a:off x="11283696" y="658368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7085"/>
                </a:solidFill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Projeto acadêmico | Brazilian E-Commerce Public Dataset by Olist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RFM transforma transação em valor do cliente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521208" y="97840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segmentação revela quais grupos merecem retenção, ativação e win-back seletivo.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353312"/>
            <a:ext cx="11155680" cy="0"/>
          </a:xfrm>
          <a:prstGeom prst="line">
            <a:avLst/>
          </a:prstGeom>
          <a:noFill/>
          <a:ln w="7620">
            <a:solidFill>
              <a:srgbClr val="D0D5DD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621792" y="1664208"/>
          <a:ext cx="594360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903720" y="1737360"/>
            <a:ext cx="2121408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050024" y="19019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7AE6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28,2%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050024" y="22677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receita: New High Value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050024" y="245973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boa janela de ativação</a:t>
            </a:r>
            <a:endParaRPr lang="en-US" sz="700" dirty="0"/>
          </a:p>
        </p:txBody>
      </p:sp>
      <p:sp>
        <p:nvSpPr>
          <p:cNvPr id="11" name="Shape 8"/>
          <p:cNvSpPr/>
          <p:nvPr/>
        </p:nvSpPr>
        <p:spPr>
          <a:xfrm>
            <a:off x="9281160" y="1737360"/>
            <a:ext cx="2121408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427464" y="19019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645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29,4%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9427464" y="22677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receita: risco alto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9427464" y="245973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Risk + Can’t Lose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6903720" y="3154680"/>
            <a:ext cx="4498848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903720" y="3154680"/>
            <a:ext cx="73152" cy="8412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104888" y="3319272"/>
            <a:ext cx="41788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Prioridade comercial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104888" y="3630168"/>
            <a:ext cx="4178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Clientes “New High Value” compraram recentemente e gastaram acima da média: são candidatos naturais a campanhas de segunda compra.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6903720" y="4224528"/>
            <a:ext cx="4498848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903720" y="4224528"/>
            <a:ext cx="73152" cy="841248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104888" y="4389120"/>
            <a:ext cx="41788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Prioridade defensiva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7104888" y="4700016"/>
            <a:ext cx="4178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Clientes de alto valor em risco concentram receita histórica relevante: ações de reativação devem ser seletivas para evitar custo sem retorno.</a:t>
            </a:r>
            <a:endParaRPr lang="en-US" sz="940" dirty="0"/>
          </a:p>
        </p:txBody>
      </p:sp>
      <p:sp>
        <p:nvSpPr>
          <p:cNvPr id="23" name="Shape 20"/>
          <p:cNvSpPr/>
          <p:nvPr/>
        </p:nvSpPr>
        <p:spPr>
          <a:xfrm>
            <a:off x="502920" y="6519672"/>
            <a:ext cx="11155680" cy="0"/>
          </a:xfrm>
          <a:prstGeom prst="line">
            <a:avLst/>
          </a:prstGeom>
          <a:noFill/>
          <a:ln w="5080">
            <a:solidFill>
              <a:srgbClr val="D0D5D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2920" y="6601968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Customer &amp; Payment Intelligence — Olist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11283696" y="658368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7085"/>
                </a:solidFill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Projeto acadêmico | Brazilian E-Commerce Public Dataset by Olist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janela crítica de recompra é curta: 30–90 dias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521208" y="97840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 quem volta a comprar, a segunda compra costuma acontecer cedo.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353312"/>
            <a:ext cx="11155680" cy="0"/>
          </a:xfrm>
          <a:prstGeom prst="line">
            <a:avLst/>
          </a:prstGeom>
          <a:noFill/>
          <a:ln w="7620">
            <a:solidFill>
              <a:srgbClr val="D0D5DD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658368" y="1691640"/>
          <a:ext cx="49377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6053328" y="1691640"/>
          <a:ext cx="52578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685800" y="5394960"/>
            <a:ext cx="21488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32104" y="5559552"/>
            <a:ext cx="1856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A6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28 dias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832104" y="5925312"/>
            <a:ext cx="1856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mediana até 2ª compra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832104" y="6117336"/>
            <a:ext cx="1856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 repeaters</a:t>
            </a:r>
            <a:endParaRPr lang="en-US" sz="700" dirty="0"/>
          </a:p>
        </p:txBody>
      </p:sp>
      <p:sp>
        <p:nvSpPr>
          <p:cNvPr id="12" name="Shape 8"/>
          <p:cNvSpPr/>
          <p:nvPr/>
        </p:nvSpPr>
        <p:spPr>
          <a:xfrm>
            <a:off x="3063240" y="5394960"/>
            <a:ext cx="21488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209544" y="5559552"/>
            <a:ext cx="1856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B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68,3%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3209544" y="5925312"/>
            <a:ext cx="1856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repeaters até 90 dias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3209544" y="6117336"/>
            <a:ext cx="1856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janela de CRM</a:t>
            </a:r>
            <a:endParaRPr lang="en-US" sz="700" dirty="0"/>
          </a:p>
        </p:txBody>
      </p:sp>
      <p:sp>
        <p:nvSpPr>
          <p:cNvPr id="16" name="Shape 12"/>
          <p:cNvSpPr/>
          <p:nvPr/>
        </p:nvSpPr>
        <p:spPr>
          <a:xfrm>
            <a:off x="5989320" y="5330952"/>
            <a:ext cx="5321808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989320" y="5330952"/>
            <a:ext cx="73152" cy="749808"/>
          </a:xfrm>
          <a:prstGeom prst="rect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190488" y="5495544"/>
            <a:ext cx="50017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Recomendação operacional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6190488" y="5806440"/>
            <a:ext cx="5001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Acionar jornada pós-compra com gatilhos em D+7, D+30 e D+60: review, cross-sell, benefício para 2ª compra e reativação leve.</a:t>
            </a:r>
            <a:endParaRPr lang="en-US" sz="940" dirty="0"/>
          </a:p>
        </p:txBody>
      </p:sp>
      <p:sp>
        <p:nvSpPr>
          <p:cNvPr id="20" name="Shape 16"/>
          <p:cNvSpPr/>
          <p:nvPr/>
        </p:nvSpPr>
        <p:spPr>
          <a:xfrm>
            <a:off x="502920" y="6519672"/>
            <a:ext cx="11155680" cy="0"/>
          </a:xfrm>
          <a:prstGeom prst="line">
            <a:avLst/>
          </a:prstGeom>
          <a:noFill/>
          <a:ln w="5080">
            <a:solidFill>
              <a:srgbClr val="D0D5DD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02920" y="6601968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Customer &amp; Payment Intelligence — Olist</a:t>
            </a:r>
            <a:endParaRPr lang="en-US" sz="750" dirty="0"/>
          </a:p>
        </p:txBody>
      </p:sp>
      <p:sp>
        <p:nvSpPr>
          <p:cNvPr id="22" name="Text 18"/>
          <p:cNvSpPr/>
          <p:nvPr/>
        </p:nvSpPr>
        <p:spPr>
          <a:xfrm>
            <a:off x="11283696" y="658368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7085"/>
                </a:solidFill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Projeto acadêmico | Brazilian E-Commerce Public Dataset by Olist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Coortes confirmam o desafio: retenção mensal é baixa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521208" y="97840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retenção exata por mês é pequena; a recompra acumulada mostra retorno disperso ao longo do tempo.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353312"/>
            <a:ext cx="11155680" cy="0"/>
          </a:xfrm>
          <a:prstGeom prst="line">
            <a:avLst/>
          </a:prstGeom>
          <a:noFill/>
          <a:ln w="7620">
            <a:solidFill>
              <a:srgbClr val="D0D5DD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658368" y="1719072"/>
          <a:ext cx="594360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995160" y="1719072"/>
            <a:ext cx="4315968" cy="3337560"/>
          </a:xfrm>
          <a:prstGeom prst="roundRect">
            <a:avLst>
              <a:gd name="adj" fmla="val 1644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269480" y="1993392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Retenção mensal exata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269480" y="2487168"/>
            <a:ext cx="658368" cy="256032"/>
          </a:xfrm>
          <a:prstGeom prst="roundRect">
            <a:avLst>
              <a:gd name="adj" fmla="val 14286"/>
            </a:avLst>
          </a:prstGeom>
          <a:solidFill>
            <a:srgbClr val="D64545">
              <a:alpha val="96000"/>
            </a:srgbClr>
          </a:solidFill>
          <a:ln w="12700">
            <a:solidFill>
              <a:srgbClr val="D64545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269480" y="2551176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M1</a:t>
            </a:r>
            <a:endParaRPr lang="en-US" sz="780" dirty="0"/>
          </a:p>
        </p:txBody>
      </p:sp>
      <p:sp>
        <p:nvSpPr>
          <p:cNvPr id="11" name="Text 8"/>
          <p:cNvSpPr/>
          <p:nvPr/>
        </p:nvSpPr>
        <p:spPr>
          <a:xfrm>
            <a:off x="8156448" y="246888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64545"/>
                </a:solidFill>
              </a:rPr>
              <a:t>0,48%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9235440" y="2560320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67085"/>
                </a:solidFill>
              </a:rPr>
              <a:t>clientes ativos no mês</a:t>
            </a:r>
            <a:endParaRPr lang="en-US" sz="720" dirty="0"/>
          </a:p>
        </p:txBody>
      </p:sp>
      <p:sp>
        <p:nvSpPr>
          <p:cNvPr id="13" name="Shape 10"/>
          <p:cNvSpPr/>
          <p:nvPr/>
        </p:nvSpPr>
        <p:spPr>
          <a:xfrm>
            <a:off x="7269480" y="3017520"/>
            <a:ext cx="658368" cy="256032"/>
          </a:xfrm>
          <a:prstGeom prst="roundRect">
            <a:avLst>
              <a:gd name="adj" fmla="val 14286"/>
            </a:avLst>
          </a:prstGeom>
          <a:solidFill>
            <a:srgbClr val="D64545">
              <a:alpha val="96000"/>
            </a:srgbClr>
          </a:solidFill>
          <a:ln w="12700">
            <a:solidFill>
              <a:srgbClr val="D64545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269480" y="3081528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M3</a:t>
            </a:r>
            <a:endParaRPr lang="en-US" sz="780" dirty="0"/>
          </a:p>
        </p:txBody>
      </p:sp>
      <p:sp>
        <p:nvSpPr>
          <p:cNvPr id="15" name="Text 12"/>
          <p:cNvSpPr/>
          <p:nvPr/>
        </p:nvSpPr>
        <p:spPr>
          <a:xfrm>
            <a:off x="8156448" y="299923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64545"/>
                </a:solidFill>
              </a:rPr>
              <a:t>0,25%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9235440" y="3090672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67085"/>
                </a:solidFill>
              </a:rPr>
              <a:t>clientes ativos no mês</a:t>
            </a:r>
            <a:endParaRPr lang="en-US" sz="720" dirty="0"/>
          </a:p>
        </p:txBody>
      </p:sp>
      <p:sp>
        <p:nvSpPr>
          <p:cNvPr id="17" name="Shape 14"/>
          <p:cNvSpPr/>
          <p:nvPr/>
        </p:nvSpPr>
        <p:spPr>
          <a:xfrm>
            <a:off x="7269480" y="3547872"/>
            <a:ext cx="658368" cy="256032"/>
          </a:xfrm>
          <a:prstGeom prst="roundRect">
            <a:avLst>
              <a:gd name="adj" fmla="val 14286"/>
            </a:avLst>
          </a:prstGeom>
          <a:solidFill>
            <a:srgbClr val="D64545">
              <a:alpha val="96000"/>
            </a:srgbClr>
          </a:solidFill>
          <a:ln w="12700">
            <a:solidFill>
              <a:srgbClr val="D64545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269480" y="3611880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M6</a:t>
            </a:r>
            <a:endParaRPr lang="en-US" sz="780" dirty="0"/>
          </a:p>
        </p:txBody>
      </p:sp>
      <p:sp>
        <p:nvSpPr>
          <p:cNvPr id="19" name="Text 16"/>
          <p:cNvSpPr/>
          <p:nvPr/>
        </p:nvSpPr>
        <p:spPr>
          <a:xfrm>
            <a:off x="8156448" y="3529584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64545"/>
                </a:solidFill>
              </a:rPr>
              <a:t>0,23%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9235440" y="3621024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67085"/>
                </a:solidFill>
              </a:rPr>
              <a:t>clientes ativos no mês</a:t>
            </a:r>
            <a:endParaRPr lang="en-US" sz="720" dirty="0"/>
          </a:p>
        </p:txBody>
      </p:sp>
      <p:sp>
        <p:nvSpPr>
          <p:cNvPr id="21" name="Shape 18"/>
          <p:cNvSpPr/>
          <p:nvPr/>
        </p:nvSpPr>
        <p:spPr>
          <a:xfrm>
            <a:off x="7269480" y="4078224"/>
            <a:ext cx="658368" cy="256032"/>
          </a:xfrm>
          <a:prstGeom prst="roundRect">
            <a:avLst>
              <a:gd name="adj" fmla="val 14286"/>
            </a:avLst>
          </a:prstGeom>
          <a:solidFill>
            <a:srgbClr val="D64545">
              <a:alpha val="96000"/>
            </a:srgbClr>
          </a:solidFill>
          <a:ln w="12700">
            <a:solidFill>
              <a:srgbClr val="D64545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269480" y="4142232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M12</a:t>
            </a:r>
            <a:endParaRPr lang="en-US" sz="780" dirty="0"/>
          </a:p>
        </p:txBody>
      </p:sp>
      <p:sp>
        <p:nvSpPr>
          <p:cNvPr id="23" name="Text 20"/>
          <p:cNvSpPr/>
          <p:nvPr/>
        </p:nvSpPr>
        <p:spPr>
          <a:xfrm>
            <a:off x="8156448" y="4059936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64545"/>
                </a:solidFill>
              </a:rPr>
              <a:t>0,17%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9235440" y="4151376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67085"/>
                </a:solidFill>
              </a:rPr>
              <a:t>clientes ativos no mês</a:t>
            </a:r>
            <a:endParaRPr lang="en-US" sz="720" dirty="0"/>
          </a:p>
        </p:txBody>
      </p:sp>
      <p:sp>
        <p:nvSpPr>
          <p:cNvPr id="25" name="Text 22"/>
          <p:cNvSpPr/>
          <p:nvPr/>
        </p:nvSpPr>
        <p:spPr>
          <a:xfrm>
            <a:off x="7269480" y="475488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67085"/>
                </a:solidFill>
              </a:rPr>
              <a:t>Mede compra exatamente naquele mês — por isso é menor que a curva acumulada.</a:t>
            </a:r>
            <a:endParaRPr lang="en-US" sz="820" dirty="0"/>
          </a:p>
        </p:txBody>
      </p:sp>
      <p:sp>
        <p:nvSpPr>
          <p:cNvPr id="26" name="Shape 23"/>
          <p:cNvSpPr/>
          <p:nvPr/>
        </p:nvSpPr>
        <p:spPr>
          <a:xfrm>
            <a:off x="676656" y="5303520"/>
            <a:ext cx="521208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76656" y="5303520"/>
            <a:ext cx="73152" cy="731520"/>
          </a:xfrm>
          <a:prstGeom prst="rect">
            <a:avLst/>
          </a:prstGeom>
          <a:solidFill>
            <a:srgbClr val="1AA6A6"/>
          </a:solidFill>
          <a:ln w="12700">
            <a:solidFill>
              <a:srgbClr val="1AA6A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77824" y="5468112"/>
            <a:ext cx="4892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ler o gráfico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877824" y="5779008"/>
            <a:ext cx="4892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Retenção mensal exata mede quem comprou exatamente em M1, M2 etc. Já a curva acumulada mostra se o cliente retornou até aquela idade da coorte.</a:t>
            </a:r>
            <a:endParaRPr lang="en-US" sz="940" dirty="0"/>
          </a:p>
        </p:txBody>
      </p:sp>
      <p:sp>
        <p:nvSpPr>
          <p:cNvPr id="30" name="Shape 27"/>
          <p:cNvSpPr/>
          <p:nvPr/>
        </p:nvSpPr>
        <p:spPr>
          <a:xfrm>
            <a:off x="6144768" y="5303520"/>
            <a:ext cx="521208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144768" y="5303520"/>
            <a:ext cx="73152" cy="731520"/>
          </a:xfrm>
          <a:prstGeom prst="rect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345936" y="5468112"/>
            <a:ext cx="4892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Decisão de investimento</a:t>
            </a: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6345936" y="5779008"/>
            <a:ext cx="4892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Priorizar iniciativas que aumentem a recompra acumulada nos primeiros meses, antes que o cliente esfrie e o custo de reativação aumente.</a:t>
            </a:r>
            <a:endParaRPr lang="en-US" sz="940" dirty="0"/>
          </a:p>
        </p:txBody>
      </p:sp>
      <p:sp>
        <p:nvSpPr>
          <p:cNvPr id="34" name="Shape 31"/>
          <p:cNvSpPr/>
          <p:nvPr/>
        </p:nvSpPr>
        <p:spPr>
          <a:xfrm>
            <a:off x="502920" y="6519672"/>
            <a:ext cx="11155680" cy="0"/>
          </a:xfrm>
          <a:prstGeom prst="line">
            <a:avLst/>
          </a:prstGeom>
          <a:noFill/>
          <a:ln w="5080">
            <a:solidFill>
              <a:srgbClr val="D0D5DD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02920" y="6601968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Customer &amp; Payment Intelligence — Olist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11283696" y="658368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7085"/>
                </a:solidFill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Projeto acadêmico | Brazilian E-Commerce Public Dataset by Olist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Modelo de propensão: priorizar, não adivinhar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521208" y="97840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modelo organiza o funil de CRM por probabilidade observada de recompra em 90 dias.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353312"/>
            <a:ext cx="11155680" cy="0"/>
          </a:xfrm>
          <a:prstGeom prst="line">
            <a:avLst/>
          </a:prstGeom>
          <a:noFill/>
          <a:ln w="7620">
            <a:solidFill>
              <a:srgbClr val="D0D5DD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658368" y="1719072"/>
          <a:ext cx="521208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6327648" y="1719072"/>
          <a:ext cx="493776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713232" y="5358384"/>
            <a:ext cx="205740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59536" y="5522976"/>
            <a:ext cx="1764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B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1,85x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859536" y="5888736"/>
            <a:ext cx="1764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lift no Top 10%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859536" y="6080760"/>
            <a:ext cx="1764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teste out-of-time</a:t>
            </a:r>
            <a:endParaRPr lang="en-US" sz="700" dirty="0"/>
          </a:p>
        </p:txBody>
      </p:sp>
      <p:sp>
        <p:nvSpPr>
          <p:cNvPr id="12" name="Shape 8"/>
          <p:cNvSpPr/>
          <p:nvPr/>
        </p:nvSpPr>
        <p:spPr>
          <a:xfrm>
            <a:off x="2980944" y="5358384"/>
            <a:ext cx="205740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127248" y="5522976"/>
            <a:ext cx="1764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A6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3,19%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3127248" y="5888736"/>
            <a:ext cx="1764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recompra Top 10%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3127248" y="6080760"/>
            <a:ext cx="1764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1,73% base</a:t>
            </a:r>
            <a:endParaRPr lang="en-US" sz="700" dirty="0"/>
          </a:p>
        </p:txBody>
      </p:sp>
      <p:sp>
        <p:nvSpPr>
          <p:cNvPr id="16" name="Shape 12"/>
          <p:cNvSpPr/>
          <p:nvPr/>
        </p:nvSpPr>
        <p:spPr>
          <a:xfrm>
            <a:off x="5468112" y="5321808"/>
            <a:ext cx="58064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468112" y="5321808"/>
            <a:ext cx="73152" cy="749808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669280" y="5486400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Limitação relevante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5669280" y="5797296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sinal preditivo existe, mas é modesto e sofre drift temporal. O modelo deve ser monitorado e retreinado, não usado como regra fixa.</a:t>
            </a:r>
            <a:endParaRPr lang="en-US" sz="940" dirty="0"/>
          </a:p>
        </p:txBody>
      </p:sp>
      <p:sp>
        <p:nvSpPr>
          <p:cNvPr id="20" name="Shape 16"/>
          <p:cNvSpPr/>
          <p:nvPr/>
        </p:nvSpPr>
        <p:spPr>
          <a:xfrm>
            <a:off x="502920" y="6519672"/>
            <a:ext cx="11155680" cy="0"/>
          </a:xfrm>
          <a:prstGeom prst="line">
            <a:avLst/>
          </a:prstGeom>
          <a:noFill/>
          <a:ln w="5080">
            <a:solidFill>
              <a:srgbClr val="D0D5DD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02920" y="6601968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Customer &amp; Payment Intelligence — Olist</a:t>
            </a:r>
            <a:endParaRPr lang="en-US" sz="750" dirty="0"/>
          </a:p>
        </p:txBody>
      </p:sp>
      <p:sp>
        <p:nvSpPr>
          <p:cNvPr id="22" name="Text 18"/>
          <p:cNvSpPr/>
          <p:nvPr/>
        </p:nvSpPr>
        <p:spPr>
          <a:xfrm>
            <a:off x="11283696" y="658368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7085"/>
                </a:solidFill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Projeto acadêmico | Brazilian E-Commerce Public Dataset by Olist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Plano acionável: três alavancas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521208" y="97840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 análise para a execução: priorizar relacionamento, monetização e governança.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353312"/>
            <a:ext cx="11155680" cy="0"/>
          </a:xfrm>
          <a:prstGeom prst="line">
            <a:avLst/>
          </a:prstGeom>
          <a:noFill/>
          <a:ln w="7620">
            <a:solidFill>
              <a:srgbClr val="D0D5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783080"/>
            <a:ext cx="3063240" cy="324612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20116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Segunda compra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86968" y="2523744"/>
            <a:ext cx="260604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44054"/>
                </a:solidFill>
              </a:rPr>
              <a:t>Ativar clientes em D+7, D+30 e D+60 com incentivo progressivo e comunicação pós-compra.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86968" y="3950208"/>
            <a:ext cx="2606040" cy="0"/>
          </a:xfrm>
          <a:prstGeom prst="line">
            <a:avLst/>
          </a:prstGeom>
          <a:noFill/>
          <a:ln w="15240">
            <a:solidFill>
              <a:srgbClr val="FFB0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417880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3"/>
                </a:solidFill>
              </a:rPr>
              <a:t>KPI: recompra 90d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86968" y="4489704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667085"/>
                </a:solidFill>
              </a:rPr>
              <a:t>Meta: elevar conversão da janela crítica.</a:t>
            </a:r>
            <a:endParaRPr lang="en-US" sz="830" dirty="0"/>
          </a:p>
        </p:txBody>
      </p:sp>
      <p:sp>
        <p:nvSpPr>
          <p:cNvPr id="12" name="Shape 10"/>
          <p:cNvSpPr/>
          <p:nvPr/>
        </p:nvSpPr>
        <p:spPr>
          <a:xfrm>
            <a:off x="4224528" y="1783080"/>
            <a:ext cx="3063240" cy="324612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25696" y="20116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A6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Cross-sell orientado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425696" y="2523744"/>
            <a:ext cx="260604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44054"/>
                </a:solidFill>
              </a:rPr>
              <a:t>Explorar a migração entre categorias: cerca de 54% das segundas compras não permanecem na mesma categoria.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425696" y="3950208"/>
            <a:ext cx="2606040" cy="0"/>
          </a:xfrm>
          <a:prstGeom prst="line">
            <a:avLst/>
          </a:prstGeom>
          <a:noFill/>
          <a:ln w="15240">
            <a:solidFill>
              <a:srgbClr val="1AA6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25696" y="417880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3"/>
                </a:solidFill>
              </a:rPr>
              <a:t>KPI: receita por cliente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425696" y="4489704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667085"/>
                </a:solidFill>
              </a:rPr>
              <a:t>Meta: aumentar monetização sem depender só de aquisição.</a:t>
            </a:r>
            <a:endParaRPr lang="en-US" sz="830" dirty="0"/>
          </a:p>
        </p:txBody>
      </p:sp>
      <p:sp>
        <p:nvSpPr>
          <p:cNvPr id="18" name="Shape 16"/>
          <p:cNvSpPr/>
          <p:nvPr/>
        </p:nvSpPr>
        <p:spPr>
          <a:xfrm>
            <a:off x="7763256" y="1783080"/>
            <a:ext cx="3063240" cy="324612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64424" y="20116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45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Retenção seletiva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964424" y="2523744"/>
            <a:ext cx="260604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44054"/>
                </a:solidFill>
              </a:rPr>
              <a:t>Aplicar RFM + propensão para recuperar clientes de alto valor antes de investir em massa nos inativos.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964424" y="3950208"/>
            <a:ext cx="2606040" cy="0"/>
          </a:xfrm>
          <a:prstGeom prst="line">
            <a:avLst/>
          </a:prstGeom>
          <a:noFill/>
          <a:ln w="15240">
            <a:solidFill>
              <a:srgbClr val="D645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64424" y="417880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3"/>
                </a:solidFill>
              </a:rPr>
              <a:t>KPI: retorno incremental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964424" y="4489704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667085"/>
                </a:solidFill>
              </a:rPr>
              <a:t>Meta: reduzir custo de campanha por conversão.</a:t>
            </a:r>
            <a:endParaRPr lang="en-US" sz="830" dirty="0"/>
          </a:p>
        </p:txBody>
      </p:sp>
      <p:sp>
        <p:nvSpPr>
          <p:cNvPr id="24" name="Shape 22"/>
          <p:cNvSpPr/>
          <p:nvPr/>
        </p:nvSpPr>
        <p:spPr>
          <a:xfrm>
            <a:off x="685800" y="5394960"/>
            <a:ext cx="1014984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" y="5394960"/>
            <a:ext cx="73152" cy="59436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6968" y="5559552"/>
            <a:ext cx="9829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Sequência recomendada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86968" y="5870448"/>
            <a:ext cx="9829800" cy="27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Começar por uma campanha controlada de Top 10% propensão + New High Value. Medir uplift incremental antes de escalar.</a:t>
            </a:r>
            <a:endParaRPr lang="en-US" sz="940" dirty="0"/>
          </a:p>
        </p:txBody>
      </p:sp>
      <p:sp>
        <p:nvSpPr>
          <p:cNvPr id="28" name="Shape 26"/>
          <p:cNvSpPr/>
          <p:nvPr/>
        </p:nvSpPr>
        <p:spPr>
          <a:xfrm>
            <a:off x="502920" y="6519672"/>
            <a:ext cx="11155680" cy="0"/>
          </a:xfrm>
          <a:prstGeom prst="line">
            <a:avLst/>
          </a:prstGeom>
          <a:noFill/>
          <a:ln w="5080">
            <a:solidFill>
              <a:srgbClr val="D0D5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6601968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Customer &amp; Payment Intelligence — Olist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1283696" y="658368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7085"/>
                </a:solidFill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Conclusão para investidores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170432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6E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caminho de valor está em transformar aquisição em relacionamento mensurável.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49808" y="1874520"/>
            <a:ext cx="384048" cy="384048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956816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316736" y="1892808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</a:rPr>
              <a:t>A base mostra escala transacional, mas recompra limitada.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49808" y="2715768"/>
            <a:ext cx="384048" cy="384048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798064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316736" y="2734056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</a:rPr>
              <a:t>O valor está concentrado em clientes de maior monetização.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49808" y="3557016"/>
            <a:ext cx="384048" cy="384048"/>
          </a:xfrm>
          <a:prstGeom prst="ellipse">
            <a:avLst/>
          </a:prstGeom>
          <a:solidFill>
            <a:srgbClr val="1AA6A6"/>
          </a:solidFill>
          <a:ln w="12700">
            <a:solidFill>
              <a:srgbClr val="1AA6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3639312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316736" y="3575304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</a:rPr>
              <a:t>A janela 30–90 dias é a principal oportunidade de CRM.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49808" y="4398264"/>
            <a:ext cx="384048" cy="384048"/>
          </a:xfrm>
          <a:prstGeom prst="ellipse">
            <a:avLst/>
          </a:prstGeom>
          <a:solidFill>
            <a:srgbClr val="1AA6A6"/>
          </a:solidFill>
          <a:ln w="12700">
            <a:solidFill>
              <a:srgbClr val="1A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4480560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316736" y="4416552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</a:rPr>
              <a:t>RFM + propensão permite priorizar ações e medir retorno.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8458200" y="1051560"/>
            <a:ext cx="2971800" cy="4434840"/>
          </a:xfrm>
          <a:prstGeom prst="roundRect">
            <a:avLst>
              <a:gd name="adj" fmla="val 2462"/>
            </a:avLst>
          </a:prstGeom>
          <a:solidFill>
            <a:srgbClr val="102A43"/>
          </a:solidFill>
          <a:ln w="8890">
            <a:solidFill>
              <a:srgbClr val="1A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32520" y="141732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020"/>
                </a:solidFill>
              </a:rPr>
              <a:t>Próximo passo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732520" y="178308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Executar experimento de retenção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732520" y="2514600"/>
            <a:ext cx="233172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</a:rPr>
              <a:t>Público: Top 10% propensão + segmentos RFM de maior valor.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</a:rPr>
              <a:t>Métrica: uplift incremental de recompra em 90 dias e receita por cliente.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732520" y="4160520"/>
            <a:ext cx="2331720" cy="0"/>
          </a:xfrm>
          <a:prstGeom prst="line">
            <a:avLst/>
          </a:prstGeom>
          <a:noFill/>
          <a:ln w="17780">
            <a:solidFill>
              <a:srgbClr val="1AA6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32520" y="443484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Governança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732520" y="4727448"/>
            <a:ext cx="233172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D6E4FF"/>
                </a:solidFill>
              </a:rPr>
              <a:t>Dataset histórico; não extrapolar como resultado atual. Monitorar drift e retreinar modelos.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685800" y="6199632"/>
            <a:ext cx="6126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6C8DE"/>
                </a:solidFill>
              </a:rPr>
              <a:t>Relatório executivo + 6 notebooks analíticos + pipeline de propensão.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1109960" y="6181344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B6C8DE"/>
                </a:solidFill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Academic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&amp; Payment Intelligence — Olist</dc:title>
  <dc:subject>Olist Payment, RFM, Retention and Repurchase Prediction</dc:subject>
  <dc:creator>OpenAI</dc:creator>
  <cp:lastModifiedBy>OpenAI</cp:lastModifiedBy>
  <cp:revision>1</cp:revision>
  <dcterms:created xsi:type="dcterms:W3CDTF">2026-09-20T18:39:05Z</dcterms:created>
  <dcterms:modified xsi:type="dcterms:W3CDTF">2026-09-20T18:39:05Z</dcterms:modified>
</cp:coreProperties>
</file>
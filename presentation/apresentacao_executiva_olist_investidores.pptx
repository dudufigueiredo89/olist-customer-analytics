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594360"/>
            <a:ext cx="2011680" cy="2011680"/>
          </a:xfrm>
          <a:prstGeom prst="ellipse">
            <a:avLst/>
          </a:prstGeom>
          <a:solidFill>
            <a:srgbClr val="DDF6F4">
              <a:alpha val="92000"/>
            </a:srgbClr>
          </a:solidFill>
          <a:ln w="12700">
            <a:solidFill>
              <a:srgbClr val="DDF6F4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72600" y="3291840"/>
            <a:ext cx="1737360" cy="1737360"/>
          </a:xfrm>
          <a:prstGeom prst="ellipse">
            <a:avLst/>
          </a:prstGeom>
          <a:solidFill>
            <a:srgbClr val="FFE8CF">
              <a:alpha val="85000"/>
            </a:srgbClr>
          </a:solidFill>
          <a:ln w="12700">
            <a:solidFill>
              <a:srgbClr val="FFE8C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B83"/>
                </a:solidFill>
              </a:rPr>
              <a:t>OLIST CUSTOMER &amp; PAYMENT ANALYTICS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primeira compra à recompra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12648" y="25146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Análise executiva revisada após atualização metodológica dos notebooks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Pagamentos • RFM • Recompra • Coortes • Propensão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" y="3337560"/>
            <a:ext cx="237744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3794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324F"/>
                </a:solidFill>
              </a:rPr>
              <a:t>Eduardo Figueiredo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" y="40965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Projeto de Data Analytics &amp; Machine Learning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" y="6263640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GitHub: DuduFigueiredo89/olist-customer-analytics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executiva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oportunidade central é converter a 1ª compra em relacionamento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projeto conecta aquisição, pagamento, valor, recompra e score de propensão em uma visão única de CRM.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≈3,0%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94360" y="2258568"/>
            <a:ext cx="68580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50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clientes com 2+ compras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taxa observada no período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2,28%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2743200" y="2258568"/>
            <a:ext cx="685800" cy="0"/>
          </a:xfrm>
          <a:prstGeom prst="line">
            <a:avLst/>
          </a:prstGeom>
          <a:noFill/>
          <a:ln w="31750">
            <a:solidFill>
              <a:srgbClr val="02A7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2350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recompra em 90 dias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0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clientes elegíveis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92040" y="1691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 dias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4892040" y="2258568"/>
            <a:ext cx="685800" cy="0"/>
          </a:xfrm>
          <a:prstGeom prst="line">
            <a:avLst/>
          </a:prstGeom>
          <a:noFill/>
          <a:ln w="31750">
            <a:solidFill>
              <a:srgbClr val="007B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350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mediana até 2ª compra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entre clientes recorrentes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040880" y="169164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1,85x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7040880" y="2258568"/>
            <a:ext cx="685800" cy="0"/>
          </a:xfrm>
          <a:prstGeom prst="line">
            <a:avLst/>
          </a:prstGeom>
          <a:noFill/>
          <a:ln w="3175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2350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lift Top 10% score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40880" y="26791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priorização por modelo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3429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Jornada de valor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069080"/>
            <a:ext cx="411480" cy="411480"/>
          </a:xfrm>
          <a:prstGeom prst="ellipse">
            <a:avLst/>
          </a:prstGeom>
          <a:solidFill>
            <a:srgbClr val="02A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8992" y="4274820"/>
            <a:ext cx="822960" cy="0"/>
          </a:xfrm>
          <a:prstGeom prst="line">
            <a:avLst/>
          </a:prstGeom>
          <a:noFill/>
          <a:ln w="15240">
            <a:solidFill>
              <a:srgbClr val="B8CCD5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57200" y="4636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Aquisição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1938528" y="4069080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0" y="4274820"/>
            <a:ext cx="822960" cy="0"/>
          </a:xfrm>
          <a:prstGeom prst="line">
            <a:avLst/>
          </a:prstGeom>
          <a:noFill/>
          <a:ln w="15240">
            <a:solidFill>
              <a:srgbClr val="B8CCD5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1755648" y="4636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1ª compra entregue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236976" y="4069080"/>
            <a:ext cx="411480" cy="411480"/>
          </a:xfrm>
          <a:prstGeom prst="ellipse">
            <a:avLst/>
          </a:prstGeom>
          <a:solidFill>
            <a:srgbClr val="02A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75888" y="4274820"/>
            <a:ext cx="822960" cy="0"/>
          </a:xfrm>
          <a:prstGeom prst="line">
            <a:avLst/>
          </a:prstGeom>
          <a:noFill/>
          <a:ln w="15240">
            <a:solidFill>
              <a:srgbClr val="B8CCD5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054096" y="4636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Pagamento + ticket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4535424" y="4069080"/>
            <a:ext cx="411480" cy="411480"/>
          </a:xfrm>
          <a:prstGeom prst="ellipse">
            <a:avLst/>
          </a:prstGeom>
          <a:solidFill>
            <a:srgbClr val="02A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36" y="4274820"/>
            <a:ext cx="822960" cy="0"/>
          </a:xfrm>
          <a:prstGeom prst="line">
            <a:avLst/>
          </a:prstGeom>
          <a:noFill/>
          <a:ln w="15240">
            <a:solidFill>
              <a:srgbClr val="B8CCD5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352544" y="4636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Valor/RFM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833872" y="4069080"/>
            <a:ext cx="411480" cy="411480"/>
          </a:xfrm>
          <a:prstGeom prst="ellipse">
            <a:avLst/>
          </a:prstGeom>
          <a:solidFill>
            <a:srgbClr val="02A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4274820"/>
            <a:ext cx="822960" cy="0"/>
          </a:xfrm>
          <a:prstGeom prst="line">
            <a:avLst/>
          </a:prstGeom>
          <a:noFill/>
          <a:ln w="15240">
            <a:solidFill>
              <a:srgbClr val="B8CCD5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5650992" y="4636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2ª compra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7132320" y="4069080"/>
            <a:ext cx="411480" cy="411480"/>
          </a:xfrm>
          <a:prstGeom prst="ellipse">
            <a:avLst/>
          </a:prstGeom>
          <a:solidFill>
            <a:srgbClr val="02A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71232" y="4274820"/>
            <a:ext cx="822960" cy="0"/>
          </a:xfrm>
          <a:prstGeom prst="line">
            <a:avLst/>
          </a:prstGeom>
          <a:noFill/>
          <a:ln w="15240">
            <a:solidFill>
              <a:srgbClr val="B8CCD5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949440" y="4636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Retenção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8430768" y="4069080"/>
            <a:ext cx="411480" cy="411480"/>
          </a:xfrm>
          <a:prstGeom prst="ellipse">
            <a:avLst/>
          </a:prstGeom>
          <a:solidFill>
            <a:srgbClr val="02A7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47888" y="46360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B7280"/>
                </a:solidFill>
              </a:rPr>
              <a:t>Score CRM</a:t>
            </a:r>
            <a:endParaRPr lang="en-US" sz="740" dirty="0"/>
          </a:p>
        </p:txBody>
      </p:sp>
      <p:sp>
        <p:nvSpPr>
          <p:cNvPr id="45" name="Text 43"/>
          <p:cNvSpPr/>
          <p:nvPr/>
        </p:nvSpPr>
        <p:spPr>
          <a:xfrm>
            <a:off x="9646920" y="3429000"/>
            <a:ext cx="205740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Tese de negócio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 baixa recorrência sugere dependência de aquisição. A maior alavanca está em ativar a segunda compra nos primeiros 30–90 dias.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646920" y="3429000"/>
            <a:ext cx="54864" cy="13258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governança dos dados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Camadas analíticas tornam a análise reproduzível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notebooks revisados deixam explícita a granularidade, os identificadores e as regras de qualidade.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B83"/>
                </a:solidFill>
              </a:rPr>
              <a:t>PIPELINE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5800" y="205740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</a:rPr>
              <a:t>9 bases brutas
</a:t>
            </a:r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orders • items • payments • customers • reviews • products • sellers • geo • translation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88920" y="2606040"/>
            <a:ext cx="502920" cy="0"/>
          </a:xfrm>
          <a:prstGeom prst="line">
            <a:avLst/>
          </a:prstGeom>
          <a:noFill/>
          <a:ln w="15240">
            <a:solidFill>
              <a:srgbClr val="AFC5CE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429000" y="205740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B83"/>
                </a:solidFill>
              </a:rPr>
              <a:t>orders_base
</a:t>
            </a:r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1 linha por pedido</a:t>
            </a:r>
            <a:endParaRPr lang="en-US" sz="1400" dirty="0"/>
          </a:p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sem multiplicação de receita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2606040"/>
            <a:ext cx="502920" cy="0"/>
          </a:xfrm>
          <a:prstGeom prst="line">
            <a:avLst/>
          </a:prstGeom>
          <a:noFill/>
          <a:ln w="15240">
            <a:solidFill>
              <a:srgbClr val="AFC5C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172200" y="205740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2A7A6"/>
                </a:solidFill>
              </a:rPr>
              <a:t>customer_orders
</a:t>
            </a:r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pedidos delivered</a:t>
            </a:r>
            <a:endParaRPr lang="en-US" sz="1400" dirty="0"/>
          </a:p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válidos para comportamento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75320" y="2606040"/>
            <a:ext cx="502920" cy="0"/>
          </a:xfrm>
          <a:prstGeom prst="line">
            <a:avLst/>
          </a:prstGeom>
          <a:noFill/>
          <a:ln w="15240">
            <a:solidFill>
              <a:srgbClr val="AFC5CE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8915400" y="2057400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ED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</a:rPr>
              <a:t>customer_summary / RFM
</a:t>
            </a:r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1 linha por customer_unique_id</a:t>
            </a:r>
            <a:endParaRPr lang="en-US" sz="1400" dirty="0"/>
          </a:p>
          <a:p>
            <a:pPr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valor + frequência + recência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Decisões metodológicas-chave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24528"/>
            <a:ext cx="3337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Identificador correto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`customer_unique_id` mede o consumidor ao longo do tempo; `customer_id` é registro associado ao pedido.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24528"/>
            <a:ext cx="54864" cy="96012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4224528"/>
            <a:ext cx="3337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Pagamentos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Payments e itens são agregados antes do join. Isso evita duplicar receita por granularidades diferentes.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0" y="4224528"/>
            <a:ext cx="54864" cy="9601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0" y="4224528"/>
            <a:ext cx="33375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Valores nulos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`payment_value` ausente não é tratado como compra de R$ 0. A decisão é documentada por análise.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4224528"/>
            <a:ext cx="54864" cy="9601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pagamentos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Meio de pagamento: associação, dominância e valor são métricas diferentes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revisão do Notebook 02 separa o meio que aparece no pedido do meio principal que concentra o maior valor.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Duas leituras complementares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42900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order_association_share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Percentual de pedidos em que o meio aparece. Um pedido pode contar em mais de um meio.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54864" cy="987552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342900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primary_order_share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Percentual de pedidos em que o meio é o principal. Cada pedido tem apenas um meio principal.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54864" cy="9875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64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Participação financeira por meio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Cartão crédito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2971800" cy="118872"/>
          </a:xfrm>
          <a:prstGeom prst="rect">
            <a:avLst/>
          </a:prstGeom>
          <a:solidFill>
            <a:srgbClr val="E8F0F3"/>
          </a:solidFill>
          <a:ln w="12700">
            <a:solidFill>
              <a:srgbClr val="E8F0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2194560"/>
            <a:ext cx="2748915" cy="118872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288" y="21396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74%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2624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Boleto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0760" y="2651760"/>
            <a:ext cx="2971800" cy="118872"/>
          </a:xfrm>
          <a:prstGeom prst="rect">
            <a:avLst/>
          </a:prstGeom>
          <a:solidFill>
            <a:srgbClr val="E8F0F3"/>
          </a:solidFill>
          <a:ln w="12700">
            <a:solidFill>
              <a:srgbClr val="E8F0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651760"/>
            <a:ext cx="705803" cy="11887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62288" y="25968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19%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30815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Voucher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0760" y="3108960"/>
            <a:ext cx="2971800" cy="118872"/>
          </a:xfrm>
          <a:prstGeom prst="rect">
            <a:avLst/>
          </a:prstGeom>
          <a:solidFill>
            <a:srgbClr val="E8F0F3"/>
          </a:solidFill>
          <a:ln w="12700">
            <a:solidFill>
              <a:srgbClr val="E8F0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80760" y="3108960"/>
            <a:ext cx="185738" cy="118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62288" y="30540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5%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663440" y="35387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Débito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80760" y="3566160"/>
            <a:ext cx="2971800" cy="118872"/>
          </a:xfrm>
          <a:prstGeom prst="rect">
            <a:avLst/>
          </a:prstGeom>
          <a:solidFill>
            <a:srgbClr val="E8F0F3"/>
          </a:solidFill>
          <a:ln w="12700">
            <a:solidFill>
              <a:srgbClr val="E8F0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3566160"/>
            <a:ext cx="74295" cy="118872"/>
          </a:xfrm>
          <a:prstGeom prst="rect">
            <a:avLst/>
          </a:prstGeom>
          <a:solidFill>
            <a:srgbClr val="8DDAD5"/>
          </a:solidFill>
          <a:ln w="12700">
            <a:solidFill>
              <a:srgbClr val="8DDA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62288" y="351129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2%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663440" y="4206240"/>
            <a:ext cx="42062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Parcelamento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Registros com 0 parcelas são preservados, mas excluídos da leitura econômica de parcelamento. A análise principal de parcelas fica no cartão de crédito.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4206240"/>
            <a:ext cx="54864" cy="96012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64040" y="166420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Implicação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29800" y="2057400"/>
            <a:ext cx="1325880" cy="658368"/>
          </a:xfrm>
          <a:prstGeom prst="rect">
            <a:avLst/>
          </a:prstGeom>
          <a:solidFill>
            <a:srgbClr val="DFF7F3"/>
          </a:solidFill>
          <a:ln>
            <a:solidFill>
              <a:srgbClr val="DFF7F3"/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7B83"/>
                </a:solidFill>
              </a:rPr>
              <a:t>Pagamento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7B83"/>
                </a:solidFill>
              </a:rPr>
              <a:t>é sinal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7B83"/>
                </a:solidFill>
              </a:rPr>
              <a:t>complementar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52560" y="4114800"/>
            <a:ext cx="23317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 comportamento de pagamento ganha poder explicativo quando combinado a ticket, categoria, frete, itens e tempo.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do cliente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RFM revela concentração de valor e diferentes prioridades de CRM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revisão do Notebook 03 preserva a interpretação comportamental da frequência e trata Monetary com governança financeira.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45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B83"/>
                </a:solidFill>
              </a:rPr>
              <a:t>CONCENTRAÇÃO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24F"/>
                </a:solidFill>
              </a:rPr>
              <a:t>≈20%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58368" y="27249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dos clientes concentram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272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7B83"/>
                </a:solidFill>
              </a:rPr>
              <a:t>&gt;50%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58368" y="3703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 receita observada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4800600"/>
            <a:ext cx="3429000" cy="0"/>
          </a:xfrm>
          <a:prstGeom prst="line">
            <a:avLst/>
          </a:prstGeom>
          <a:noFill/>
          <a:ln w="12700">
            <a:solidFill>
              <a:srgbClr val="B8C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874520"/>
            <a:ext cx="0" cy="2926080"/>
          </a:xfrm>
          <a:prstGeom prst="line">
            <a:avLst/>
          </a:prstGeom>
          <a:noFill/>
          <a:ln w="12700">
            <a:solidFill>
              <a:srgbClr val="B8C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4800600"/>
            <a:ext cx="342900" cy="-994867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1900" y="3805733"/>
            <a:ext cx="342900" cy="-526694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3279038"/>
            <a:ext cx="685800" cy="-614477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2664562"/>
            <a:ext cx="1028700" cy="-497434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29300" y="2167128"/>
            <a:ext cx="1028700" cy="-292608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4800600"/>
            <a:ext cx="3429000" cy="-2926080"/>
          </a:xfrm>
          <a:prstGeom prst="line">
            <a:avLst/>
          </a:prstGeom>
          <a:noFill/>
          <a:ln w="12700">
            <a:solidFill>
              <a:srgbClr val="D3DC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50792" y="3215030"/>
            <a:ext cx="128016" cy="128016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76F51"/>
                </a:solidFill>
              </a:rPr>
              <a:t>Top 20%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4297680" y="500176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% acumulado de clientes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 rot="16200000">
            <a:off x="3017520" y="2880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B7280"/>
                </a:solidFill>
              </a:rPr>
              <a:t>% acumulado da receita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736092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Segmentos para ação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2103120"/>
            <a:ext cx="164592" cy="164592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057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6324F"/>
                </a:solidFill>
              </a:rPr>
              <a:t>Champions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9144000" y="20574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</a:rPr>
              <a:t>Defender valor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7406640" y="2779776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7340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6324F"/>
                </a:solidFill>
              </a:rPr>
              <a:t>New High Value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9144000" y="27340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</a:rPr>
              <a:t>Converter em recorrência</a:t>
            </a:r>
            <a:endParaRPr lang="en-US" sz="830" dirty="0"/>
          </a:p>
        </p:txBody>
      </p:sp>
      <p:sp>
        <p:nvSpPr>
          <p:cNvPr id="32" name="Shape 30"/>
          <p:cNvSpPr/>
          <p:nvPr/>
        </p:nvSpPr>
        <p:spPr>
          <a:xfrm>
            <a:off x="7406640" y="3456432"/>
            <a:ext cx="164592" cy="164592"/>
          </a:xfrm>
          <a:prstGeom prst="ellipse">
            <a:avLst/>
          </a:prstGeom>
          <a:solidFill>
            <a:srgbClr val="D6604D"/>
          </a:solidFill>
          <a:ln w="12700">
            <a:solidFill>
              <a:srgbClr val="D660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341071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6324F"/>
                </a:solidFill>
              </a:rPr>
              <a:t>At Risk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9144000" y="34107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</a:rPr>
              <a:t>Win-back seletivo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7406640" y="4133088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0" y="40873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dirty="0">
                <a:solidFill>
                  <a:srgbClr val="16324F"/>
                </a:solidFill>
              </a:rPr>
              <a:t>Hibernating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144000" y="40873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B7280"/>
                </a:solidFill>
              </a:rPr>
              <a:t>Baixo custo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7406640" y="4892040"/>
            <a:ext cx="3337560" cy="82296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Regra revisada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Frequency usa faixas comportamentais, não quintis forçados. Monetary não converte valores ausentes em zero.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06640" y="4892040"/>
            <a:ext cx="54864" cy="82296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recompra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leitura correta exige janela completa de observação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Notebook 04 revisado evita viés de censura à direita e define o target principal em 90 dias.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Taxa ajustada por janela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3514439"/>
            <a:ext cx="502920" cy="892969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45262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30d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67512" y="3240119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1,25%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20240" y="3157252"/>
            <a:ext cx="502920" cy="1250156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45262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60d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10512" y="288293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1,75%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63240" y="2778633"/>
            <a:ext cx="502920" cy="1628775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45262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90d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953512" y="250431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2,28%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06240" y="2264283"/>
            <a:ext cx="502920" cy="2143125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87952" y="45262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7280"/>
                </a:solidFill>
              </a:rPr>
              <a:t>180d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96512" y="1989963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3%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4407408"/>
            <a:ext cx="4572000" cy="0"/>
          </a:xfrm>
          <a:prstGeom prst="line">
            <a:avLst/>
          </a:prstGeom>
          <a:noFill/>
          <a:ln w="12700">
            <a:solidFill>
              <a:srgbClr val="B8C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Censura à direita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06440" y="2788920"/>
            <a:ext cx="4206240" cy="0"/>
          </a:xfrm>
          <a:prstGeom prst="line">
            <a:avLst/>
          </a:prstGeom>
          <a:noFill/>
          <a:ln w="19050">
            <a:solidFill>
              <a:srgbClr val="B8C8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5000" y="2651760"/>
            <a:ext cx="274320" cy="274320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01000" y="2651760"/>
            <a:ext cx="274320" cy="274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1240" y="2651760"/>
            <a:ext cx="274320" cy="274320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0632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1ª compra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entregue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7635240" y="30632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76F51"/>
                </a:solidFill>
              </a:rPr>
              <a:t>janela 90d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9646920" y="3063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fim da base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5715000" y="3794760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Regra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Só entra no denominador de 90 dias quem teve 90 dias completos para recomprar.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715000" y="3794760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4709160"/>
            <a:ext cx="44348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Target do modelo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`repurchase_90d`: segunda compra entregue em até 90 dias após a primeira compra entregue.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15000" y="4709160"/>
            <a:ext cx="54864" cy="713232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983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68%</a:t>
            </a:r>
            <a:endParaRPr lang="en-US" sz="2500" dirty="0"/>
          </a:p>
        </p:txBody>
      </p:sp>
      <p:sp>
        <p:nvSpPr>
          <p:cNvPr id="35" name="Shape 33"/>
          <p:cNvSpPr/>
          <p:nvPr/>
        </p:nvSpPr>
        <p:spPr>
          <a:xfrm>
            <a:off x="777240" y="5550408"/>
            <a:ext cx="68580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" y="56418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das segundas compras até 90 dias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7240" y="597103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entre clientes que recompram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coortes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Retenção mensal, recompra acumulada e valor contam histórias diferentes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Notebook 05 revisado usa o último mês calendário completo para evitar distorção do mês final parcial.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Heatmap conceitual de retenção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B7280"/>
                </a:solidFill>
              </a:rPr>
              <a:t>2017-01</a:t>
            </a:r>
            <a:endParaRPr lang="en-US" sz="520" dirty="0"/>
          </a:p>
        </p:txBody>
      </p:sp>
      <p:sp>
        <p:nvSpPr>
          <p:cNvPr id="10" name="Shape 8"/>
          <p:cNvSpPr/>
          <p:nvPr/>
        </p:nvSpPr>
        <p:spPr>
          <a:xfrm>
            <a:off x="1371600" y="2240280"/>
            <a:ext cx="347472" cy="347472"/>
          </a:xfrm>
          <a:prstGeom prst="rect">
            <a:avLst/>
          </a:prstGeom>
          <a:solidFill>
            <a:srgbClr val="0B73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55648" y="2240280"/>
            <a:ext cx="347472" cy="347472"/>
          </a:xfrm>
          <a:prstGeom prst="rect">
            <a:avLst/>
          </a:prstGeom>
          <a:solidFill>
            <a:srgbClr val="168F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39696" y="2240280"/>
            <a:ext cx="347472" cy="347472"/>
          </a:xfrm>
          <a:prstGeom prst="rect">
            <a:avLst/>
          </a:prstGeom>
          <a:solidFill>
            <a:srgbClr val="2DB1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23744" y="2240280"/>
            <a:ext cx="347472" cy="347472"/>
          </a:xfrm>
          <a:prstGeom prst="rect">
            <a:avLst/>
          </a:prstGeom>
          <a:solidFill>
            <a:srgbClr val="76D2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07792" y="2240280"/>
            <a:ext cx="347472" cy="347472"/>
          </a:xfrm>
          <a:prstGeom prst="rect">
            <a:avLst/>
          </a:prstGeom>
          <a:solidFill>
            <a:srgbClr val="E7F8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24028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75888" y="224028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9748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B7280"/>
                </a:solidFill>
              </a:rPr>
              <a:t>2017-02</a:t>
            </a:r>
            <a:endParaRPr lang="en-US" sz="520" dirty="0"/>
          </a:p>
        </p:txBody>
      </p:sp>
      <p:sp>
        <p:nvSpPr>
          <p:cNvPr id="18" name="Shape 16"/>
          <p:cNvSpPr/>
          <p:nvPr/>
        </p:nvSpPr>
        <p:spPr>
          <a:xfrm>
            <a:off x="1371600" y="2624328"/>
            <a:ext cx="347472" cy="347472"/>
          </a:xfrm>
          <a:prstGeom prst="rect">
            <a:avLst/>
          </a:prstGeom>
          <a:solidFill>
            <a:srgbClr val="0B73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55648" y="2624328"/>
            <a:ext cx="347472" cy="347472"/>
          </a:xfrm>
          <a:prstGeom prst="rect">
            <a:avLst/>
          </a:prstGeom>
          <a:solidFill>
            <a:srgbClr val="168F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9696" y="2624328"/>
            <a:ext cx="347472" cy="347472"/>
          </a:xfrm>
          <a:prstGeom prst="rect">
            <a:avLst/>
          </a:prstGeom>
          <a:solidFill>
            <a:srgbClr val="2DB1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3744" y="2624328"/>
            <a:ext cx="347472" cy="347472"/>
          </a:xfrm>
          <a:prstGeom prst="rect">
            <a:avLst/>
          </a:prstGeom>
          <a:solidFill>
            <a:srgbClr val="BDEE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07792" y="2624328"/>
            <a:ext cx="347472" cy="347472"/>
          </a:xfrm>
          <a:prstGeom prst="rect">
            <a:avLst/>
          </a:prstGeom>
          <a:solidFill>
            <a:srgbClr val="E7F8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75888" y="262432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08152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B7280"/>
                </a:solidFill>
              </a:rPr>
              <a:t>2017-03</a:t>
            </a:r>
            <a:endParaRPr lang="en-US" sz="520" dirty="0"/>
          </a:p>
        </p:txBody>
      </p:sp>
      <p:sp>
        <p:nvSpPr>
          <p:cNvPr id="26" name="Shape 24"/>
          <p:cNvSpPr/>
          <p:nvPr/>
        </p:nvSpPr>
        <p:spPr>
          <a:xfrm>
            <a:off x="1371600" y="3008376"/>
            <a:ext cx="347472" cy="347472"/>
          </a:xfrm>
          <a:prstGeom prst="rect">
            <a:avLst/>
          </a:prstGeom>
          <a:solidFill>
            <a:srgbClr val="0B73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55648" y="3008376"/>
            <a:ext cx="347472" cy="347472"/>
          </a:xfrm>
          <a:prstGeom prst="rect">
            <a:avLst/>
          </a:prstGeom>
          <a:solidFill>
            <a:srgbClr val="168F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39696" y="3008376"/>
            <a:ext cx="347472" cy="347472"/>
          </a:xfrm>
          <a:prstGeom prst="rect">
            <a:avLst/>
          </a:prstGeom>
          <a:solidFill>
            <a:srgbClr val="76D2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3744" y="3008376"/>
            <a:ext cx="347472" cy="347472"/>
          </a:xfrm>
          <a:prstGeom prst="rect">
            <a:avLst/>
          </a:prstGeom>
          <a:solidFill>
            <a:srgbClr val="BDEE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07792" y="3008376"/>
            <a:ext cx="347472" cy="347472"/>
          </a:xfrm>
          <a:prstGeom prst="rect">
            <a:avLst/>
          </a:prstGeom>
          <a:solidFill>
            <a:srgbClr val="E7F8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00837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75888" y="3008376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3465576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B7280"/>
                </a:solidFill>
              </a:rPr>
              <a:t>2017-04</a:t>
            </a:r>
            <a:endParaRPr lang="en-US" sz="520" dirty="0"/>
          </a:p>
        </p:txBody>
      </p:sp>
      <p:sp>
        <p:nvSpPr>
          <p:cNvPr id="34" name="Shape 32"/>
          <p:cNvSpPr/>
          <p:nvPr/>
        </p:nvSpPr>
        <p:spPr>
          <a:xfrm>
            <a:off x="1371600" y="3392424"/>
            <a:ext cx="347472" cy="347472"/>
          </a:xfrm>
          <a:prstGeom prst="rect">
            <a:avLst/>
          </a:prstGeom>
          <a:solidFill>
            <a:srgbClr val="0B73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55648" y="3392424"/>
            <a:ext cx="347472" cy="347472"/>
          </a:xfrm>
          <a:prstGeom prst="rect">
            <a:avLst/>
          </a:prstGeom>
          <a:solidFill>
            <a:srgbClr val="168F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39696" y="3392424"/>
            <a:ext cx="347472" cy="347472"/>
          </a:xfrm>
          <a:prstGeom prst="rect">
            <a:avLst/>
          </a:prstGeom>
          <a:solidFill>
            <a:srgbClr val="76D2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523744" y="3392424"/>
            <a:ext cx="347472" cy="347472"/>
          </a:xfrm>
          <a:prstGeom prst="rect">
            <a:avLst/>
          </a:prstGeom>
          <a:solidFill>
            <a:srgbClr val="BDEE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07792" y="3392424"/>
            <a:ext cx="347472" cy="347472"/>
          </a:xfrm>
          <a:prstGeom prst="rect">
            <a:avLst/>
          </a:prstGeom>
          <a:solidFill>
            <a:srgbClr val="E7F8F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339242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75888" y="3392424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84962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B7280"/>
                </a:solidFill>
              </a:rPr>
              <a:t>2017-05</a:t>
            </a:r>
            <a:endParaRPr lang="en-US" sz="520" dirty="0"/>
          </a:p>
        </p:txBody>
      </p:sp>
      <p:sp>
        <p:nvSpPr>
          <p:cNvPr id="42" name="Shape 40"/>
          <p:cNvSpPr/>
          <p:nvPr/>
        </p:nvSpPr>
        <p:spPr>
          <a:xfrm>
            <a:off x="1371600" y="3776472"/>
            <a:ext cx="347472" cy="347472"/>
          </a:xfrm>
          <a:prstGeom prst="rect">
            <a:avLst/>
          </a:prstGeom>
          <a:solidFill>
            <a:srgbClr val="0B73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755648" y="3776472"/>
            <a:ext cx="347472" cy="347472"/>
          </a:xfrm>
          <a:prstGeom prst="rect">
            <a:avLst/>
          </a:prstGeom>
          <a:solidFill>
            <a:srgbClr val="2DB1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39696" y="3776472"/>
            <a:ext cx="347472" cy="347472"/>
          </a:xfrm>
          <a:prstGeom prst="rect">
            <a:avLst/>
          </a:prstGeom>
          <a:solidFill>
            <a:srgbClr val="76D2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23744" y="3776472"/>
            <a:ext cx="347472" cy="347472"/>
          </a:xfrm>
          <a:prstGeom prst="rect">
            <a:avLst/>
          </a:prstGeom>
          <a:solidFill>
            <a:srgbClr val="BDEE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07792" y="37764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91840" y="37764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75888" y="3776472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" y="423367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B7280"/>
                </a:solidFill>
              </a:rPr>
              <a:t>2017-06</a:t>
            </a:r>
            <a:endParaRPr lang="en-US" sz="520" dirty="0"/>
          </a:p>
        </p:txBody>
      </p:sp>
      <p:sp>
        <p:nvSpPr>
          <p:cNvPr id="50" name="Shape 48"/>
          <p:cNvSpPr/>
          <p:nvPr/>
        </p:nvSpPr>
        <p:spPr>
          <a:xfrm>
            <a:off x="1371600" y="4160520"/>
            <a:ext cx="347472" cy="347472"/>
          </a:xfrm>
          <a:prstGeom prst="rect">
            <a:avLst/>
          </a:prstGeom>
          <a:solidFill>
            <a:srgbClr val="0B737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55648" y="4160520"/>
            <a:ext cx="347472" cy="347472"/>
          </a:xfrm>
          <a:prstGeom prst="rect">
            <a:avLst/>
          </a:prstGeom>
          <a:solidFill>
            <a:srgbClr val="2DB1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39696" y="4160520"/>
            <a:ext cx="347472" cy="347472"/>
          </a:xfrm>
          <a:prstGeom prst="rect">
            <a:avLst/>
          </a:prstGeom>
          <a:solidFill>
            <a:srgbClr val="76D2C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523744" y="41605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907792" y="41605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91840" y="41605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675888" y="4160520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4617720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B7280"/>
                </a:solidFill>
              </a:rPr>
              <a:t>2017-07</a:t>
            </a:r>
            <a:endParaRPr lang="en-US" sz="520" dirty="0"/>
          </a:p>
        </p:txBody>
      </p:sp>
      <p:sp>
        <p:nvSpPr>
          <p:cNvPr id="58" name="Shape 56"/>
          <p:cNvSpPr/>
          <p:nvPr/>
        </p:nvSpPr>
        <p:spPr>
          <a:xfrm>
            <a:off x="1371600" y="4544568"/>
            <a:ext cx="347472" cy="347472"/>
          </a:xfrm>
          <a:prstGeom prst="rect">
            <a:avLst/>
          </a:prstGeom>
          <a:solidFill>
            <a:srgbClr val="168F9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755648" y="4544568"/>
            <a:ext cx="347472" cy="347472"/>
          </a:xfrm>
          <a:prstGeom prst="rect">
            <a:avLst/>
          </a:prstGeom>
          <a:solidFill>
            <a:srgbClr val="2DB1A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39696" y="454456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523744" y="454456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07792" y="454456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291840" y="454456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75888" y="4544568"/>
            <a:ext cx="347472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71600" y="2029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</a:rPr>
              <a:t>M0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1755648" y="2029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</a:rPr>
              <a:t>M1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2139696" y="2029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</a:rPr>
              <a:t>M2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2523744" y="2029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</a:rPr>
              <a:t>M3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2907792" y="2029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</a:rPr>
              <a:t>M4</a:t>
            </a:r>
            <a:endParaRPr lang="en-US" sz="550" dirty="0"/>
          </a:p>
        </p:txBody>
      </p:sp>
      <p:sp>
        <p:nvSpPr>
          <p:cNvPr id="70" name="Text 68"/>
          <p:cNvSpPr/>
          <p:nvPr/>
        </p:nvSpPr>
        <p:spPr>
          <a:xfrm>
            <a:off x="3291840" y="2029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</a:rPr>
              <a:t>M5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3675888" y="202996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B7280"/>
                </a:solidFill>
              </a:rPr>
              <a:t>M6</a:t>
            </a:r>
            <a:endParaRPr lang="en-US" sz="550" dirty="0"/>
          </a:p>
        </p:txBody>
      </p:sp>
      <p:sp>
        <p:nvSpPr>
          <p:cNvPr id="72" name="Shape 70"/>
          <p:cNvSpPr/>
          <p:nvPr/>
        </p:nvSpPr>
        <p:spPr>
          <a:xfrm>
            <a:off x="1097280" y="5074920"/>
            <a:ext cx="109728" cy="109728"/>
          </a:xfrm>
          <a:prstGeom prst="rect">
            <a:avLst/>
          </a:prstGeom>
          <a:solidFill>
            <a:srgbClr val="0B7378"/>
          </a:solidFill>
          <a:ln w="12700">
            <a:solidFill>
              <a:srgbClr val="0B73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243584" y="50566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alto</a:t>
            </a:r>
            <a:endParaRPr lang="en-US" sz="680" dirty="0"/>
          </a:p>
        </p:txBody>
      </p:sp>
      <p:sp>
        <p:nvSpPr>
          <p:cNvPr id="74" name="Shape 72"/>
          <p:cNvSpPr/>
          <p:nvPr/>
        </p:nvSpPr>
        <p:spPr>
          <a:xfrm>
            <a:off x="2011680" y="5074920"/>
            <a:ext cx="109728" cy="109728"/>
          </a:xfrm>
          <a:prstGeom prst="rect">
            <a:avLst/>
          </a:prstGeom>
          <a:solidFill>
            <a:srgbClr val="BDEEEB"/>
          </a:solidFill>
          <a:ln w="12700">
            <a:solidFill>
              <a:srgbClr val="BDEE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157984" y="5056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baixo</a:t>
            </a:r>
            <a:endParaRPr lang="en-US" sz="680" dirty="0"/>
          </a:p>
        </p:txBody>
      </p:sp>
      <p:sp>
        <p:nvSpPr>
          <p:cNvPr id="76" name="Shape 74"/>
          <p:cNvSpPr/>
          <p:nvPr/>
        </p:nvSpPr>
        <p:spPr>
          <a:xfrm>
            <a:off x="3108960" y="5074920"/>
            <a:ext cx="10972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55264" y="50566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B7280"/>
                </a:solidFill>
              </a:rPr>
              <a:t>não observável</a:t>
            </a:r>
            <a:endParaRPr lang="en-US" sz="680" dirty="0"/>
          </a:p>
        </p:txBody>
      </p:sp>
      <p:sp>
        <p:nvSpPr>
          <p:cNvPr id="78" name="Text 76"/>
          <p:cNvSpPr/>
          <p:nvPr/>
        </p:nvSpPr>
        <p:spPr>
          <a:xfrm>
            <a:off x="4709160" y="16642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Três métricas, três perguntas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709160" y="2103120"/>
            <a:ext cx="2880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Retenção mensal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Comprou exatamente em Mk?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709160" y="2103120"/>
            <a:ext cx="54864" cy="64008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2971800"/>
            <a:ext cx="2880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Recompra acumulada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Já realizou segunda compra até Mk?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4709160" y="2971800"/>
            <a:ext cx="54864" cy="640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709160" y="3840480"/>
            <a:ext cx="2880360" cy="64008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Valor acumulado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Quanto a coorte gerou por cliente?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4709160" y="3840480"/>
            <a:ext cx="54864" cy="640080"/>
          </a:xfrm>
          <a:prstGeom prst="rect">
            <a:avLst/>
          </a:prstGeom>
          <a:solidFill>
            <a:srgbClr val="007B83"/>
          </a:solidFill>
          <a:ln w="12700">
            <a:solidFill>
              <a:srgbClr val="007B8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2960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Revenue Index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8275320" y="2304288"/>
            <a:ext cx="1828800" cy="868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Receita em Mk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────────────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</a:rPr>
              <a:t>Receita em M0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8092440" y="3657600"/>
            <a:ext cx="2560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B7280"/>
                </a:solidFill>
              </a:rPr>
              <a:t>Não é NRR de SaaS. Pode superar 100% e deve ser lido como índice de receita da safra.</a:t>
            </a:r>
            <a:endParaRPr lang="en-US" sz="880" dirty="0"/>
          </a:p>
        </p:txBody>
      </p:sp>
      <p:sp>
        <p:nvSpPr>
          <p:cNvPr id="88" name="Text 86"/>
          <p:cNvSpPr/>
          <p:nvPr/>
        </p:nvSpPr>
        <p:spPr>
          <a:xfrm>
            <a:off x="8394192" y="4617720"/>
            <a:ext cx="1874520" cy="256032"/>
          </a:xfrm>
          <a:prstGeom prst="rect">
            <a:avLst/>
          </a:prstGeom>
          <a:solidFill>
            <a:srgbClr val="DFF7F3"/>
          </a:solidFill>
          <a:ln>
            <a:solidFill>
              <a:srgbClr val="DFF7F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último mês completo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preditivo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modelo é desenhado para priorizar campanhas, não para prever certezas individuais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avaliação out-of-time usa coortes mensais: passado para treino, futuro para teste.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642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7B83"/>
                </a:solidFill>
              </a:rPr>
              <a:t>MOMENTO DO SCORE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914400" y="2103120"/>
            <a:ext cx="292608" cy="292608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2414016"/>
            <a:ext cx="0" cy="502920"/>
          </a:xfrm>
          <a:prstGeom prst="line">
            <a:avLst/>
          </a:prstGeom>
          <a:noFill/>
          <a:ln w="15240">
            <a:solidFill>
              <a:srgbClr val="B8C8D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417320" y="2084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1ª compra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17320" y="233172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pedido realizado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914400" y="2971800"/>
            <a:ext cx="292608" cy="292608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3282696"/>
            <a:ext cx="0" cy="502920"/>
          </a:xfrm>
          <a:prstGeom prst="line">
            <a:avLst/>
          </a:prstGeom>
          <a:noFill/>
          <a:ln w="15240">
            <a:solidFill>
              <a:srgbClr val="B8C8D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417320" y="29535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Entrega concluída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32004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cliente entra na base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914400" y="3840480"/>
            <a:ext cx="292608" cy="29260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4151376"/>
            <a:ext cx="0" cy="502920"/>
          </a:xfrm>
          <a:prstGeom prst="line">
            <a:avLst/>
          </a:prstGeom>
          <a:noFill/>
          <a:ln w="15240">
            <a:solidFill>
              <a:srgbClr val="B8C8D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417320" y="38221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Score 90d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17320" y="406908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features do 1º pedido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914400" y="4709160"/>
            <a:ext cx="292608" cy="292608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6908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324F"/>
                </a:solidFill>
              </a:rPr>
              <a:t>Campanha CRM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417320" y="49377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ranking Top K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466344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Split temporal por coorte mensal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2834640"/>
            <a:ext cx="5029200" cy="0"/>
          </a:xfrm>
          <a:prstGeom prst="line">
            <a:avLst/>
          </a:prstGeom>
          <a:noFill/>
          <a:ln w="16510">
            <a:solidFill>
              <a:srgbClr val="B8C8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2331720"/>
            <a:ext cx="3118104" cy="4572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441448"/>
            <a:ext cx="3026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Treino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2606040"/>
            <a:ext cx="30266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</a:rPr>
              <a:t>70%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8019288" y="2331720"/>
            <a:ext cx="75438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65008" y="2441448"/>
            <a:ext cx="6629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Validação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65008" y="2606040"/>
            <a:ext cx="6629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</a:rPr>
              <a:t>15%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8874252" y="2331720"/>
            <a:ext cx="955548" cy="4572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19972" y="2441448"/>
            <a:ext cx="8641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Teste OOT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919972" y="2606040"/>
            <a:ext cx="8641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FFFFFF"/>
                </a:solidFill>
              </a:rPr>
              <a:t>15%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480060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6B7280"/>
                </a:solidFill>
              </a:rPr>
              <a:t>Coortes inteiras são mantidas no mesmo conjunto para evitar vazamento temporal.</a:t>
            </a:r>
            <a:endParaRPr lang="en-US" sz="860" dirty="0"/>
          </a:p>
        </p:txBody>
      </p:sp>
      <p:sp>
        <p:nvSpPr>
          <p:cNvPr id="36" name="Text 34"/>
          <p:cNvSpPr/>
          <p:nvPr/>
        </p:nvSpPr>
        <p:spPr>
          <a:xfrm>
            <a:off x="4663440" y="3931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Métricas de evento raro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00600" y="4389120"/>
            <a:ext cx="11430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PR-AUC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26480" y="4389120"/>
            <a:ext cx="11430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Lift@5/10/20%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452360" y="4389120"/>
            <a:ext cx="11430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Recall@K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00600" y="4773168"/>
            <a:ext cx="11430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Precision@K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26480" y="4773168"/>
            <a:ext cx="11430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Capture curve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41080" y="4160520"/>
            <a:ext cx="25146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Interpretação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 score melhora a ordenação da base. O uso correto é priorização, não uma previsão determinística.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641080" y="4160520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 do modelo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utilidade aparece no topo do ranking, não na acurácia geral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modelo concentra mais clientes que recompram nos grupos priorizados.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1,73%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85800" y="2350008"/>
            <a:ext cx="685800" cy="0"/>
          </a:xfrm>
          <a:prstGeom prst="line">
            <a:avLst/>
          </a:prstGeom>
          <a:noFill/>
          <a:ln w="3175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414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taxa média no teste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7706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prevalência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83464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3,19%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2834640" y="2350008"/>
            <a:ext cx="685800" cy="0"/>
          </a:xfrm>
          <a:prstGeom prst="line">
            <a:avLst/>
          </a:prstGeom>
          <a:noFill/>
          <a:ln w="31750">
            <a:solidFill>
              <a:srgbClr val="02A7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441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Top 10% score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834640" y="2770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precision@10%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89204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1,85x</a:t>
            </a:r>
            <a:endParaRPr lang="en-US" sz="2500" dirty="0"/>
          </a:p>
        </p:txBody>
      </p:sp>
      <p:sp>
        <p:nvSpPr>
          <p:cNvPr id="17" name="Shape 15"/>
          <p:cNvSpPr/>
          <p:nvPr/>
        </p:nvSpPr>
        <p:spPr>
          <a:xfrm>
            <a:off x="4892040" y="2350008"/>
            <a:ext cx="68580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41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lift Top 10%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2770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vs seleção aleatória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90372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18,5%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903720" y="2350008"/>
            <a:ext cx="685800" cy="0"/>
          </a:xfrm>
          <a:prstGeom prst="line">
            <a:avLst/>
          </a:prstGeom>
          <a:noFill/>
          <a:ln w="31750">
            <a:solidFill>
              <a:srgbClr val="007B8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2441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</a:rPr>
              <a:t>recall Top 10%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27706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</a:rPr>
              <a:t>repurchasers capturados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580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Comparação: média vs Top 10%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1788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Média teste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103120" y="4206240"/>
            <a:ext cx="2743200" cy="118872"/>
          </a:xfrm>
          <a:prstGeom prst="rect">
            <a:avLst/>
          </a:prstGeom>
          <a:solidFill>
            <a:srgbClr val="E8F0F3"/>
          </a:solidFill>
          <a:ln w="12700">
            <a:solidFill>
              <a:srgbClr val="E8F0F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03120" y="4206240"/>
            <a:ext cx="1355925" cy="11887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4151376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1,73%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85800" y="4754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Top 10%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03120" y="4782312"/>
            <a:ext cx="2743200" cy="118872"/>
          </a:xfrm>
          <a:prstGeom prst="rect">
            <a:avLst/>
          </a:prstGeom>
          <a:solidFill>
            <a:srgbClr val="E8F0F3"/>
          </a:solidFill>
          <a:ln w="12700">
            <a:solidFill>
              <a:srgbClr val="E8F0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03120" y="4782312"/>
            <a:ext cx="2500231" cy="118872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4727448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324F"/>
                </a:solidFill>
              </a:rPr>
              <a:t>3,19%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80760" y="3749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Curva de captura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080760" y="5760720"/>
            <a:ext cx="3840480" cy="0"/>
          </a:xfrm>
          <a:prstGeom prst="line">
            <a:avLst/>
          </a:prstGeom>
          <a:noFill/>
          <a:ln w="12700">
            <a:solidFill>
              <a:srgbClr val="B8C8D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4343400"/>
            <a:ext cx="0" cy="1417320"/>
          </a:xfrm>
          <a:prstGeom prst="line">
            <a:avLst/>
          </a:prstGeom>
          <a:noFill/>
          <a:ln w="12700">
            <a:solidFill>
              <a:srgbClr val="B8C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5760720"/>
            <a:ext cx="3840480" cy="-1417320"/>
          </a:xfrm>
          <a:prstGeom prst="line">
            <a:avLst/>
          </a:prstGeom>
          <a:noFill/>
          <a:ln w="12700">
            <a:solidFill>
              <a:srgbClr val="D3DC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5760720"/>
            <a:ext cx="192024" cy="-141732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5618988"/>
            <a:ext cx="192024" cy="-120472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4808" y="5498516"/>
            <a:ext cx="384048" cy="-177165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48856" y="5321351"/>
            <a:ext cx="384048" cy="-155905"/>
          </a:xfrm>
          <a:prstGeom prst="line">
            <a:avLst/>
          </a:prstGeom>
          <a:noFill/>
          <a:ln w="27940">
            <a:solidFill>
              <a:srgbClr val="02A7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592531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base priorizada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 rot="16200000">
            <a:off x="5577840" y="4617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repurchasers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</a:rPr>
              <a:t>capturados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9052560" y="1783080"/>
            <a:ext cx="22402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Mensagem executiva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O modelo deve orientar quem priorizar. Medir ROI real exigiria teste A/B ou uplift modeling.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052560" y="1783080"/>
            <a:ext cx="54864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recomendações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análise à ação: focar no intervalo entre 1ª e 2ª compra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estratégia combina jornada pós-compra, valor do cliente e ranking de propensão.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A7A6"/>
                </a:solidFill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Programa de 2ª compra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1762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Ativar clientes nos primeiros 30–90 dias após a primeira compra entregue.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1371600" y="2743200"/>
            <a:ext cx="4114800" cy="0"/>
          </a:xfrm>
          <a:prstGeom prst="line">
            <a:avLst/>
          </a:prstGeom>
          <a:noFill/>
          <a:ln w="12700">
            <a:solidFill>
              <a:srgbClr val="DCE8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87452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1828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Cross-sell por categoria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17627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Explorar categorias complementares quando a 2ª compra não repete a primeira.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858000" y="2743200"/>
            <a:ext cx="4114800" cy="0"/>
          </a:xfrm>
          <a:prstGeom prst="line">
            <a:avLst/>
          </a:prstGeom>
          <a:noFill/>
          <a:ln w="12700">
            <a:solidFill>
              <a:srgbClr val="DCE8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91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B83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246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CRM baseado em valor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5935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Diferenciar Champions, New High Value, At Risk e Hibernating.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1371600" y="4160520"/>
            <a:ext cx="4114800" cy="0"/>
          </a:xfrm>
          <a:prstGeom prst="line">
            <a:avLst/>
          </a:prstGeom>
          <a:noFill/>
          <a:ln w="12700">
            <a:solidFill>
              <a:srgbClr val="DCE8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2918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0" y="32461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</a:rPr>
              <a:t>Propensão + orçamento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35935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6B7280"/>
                </a:solidFill>
              </a:rPr>
              <a:t>Aplicar campanhas por Top 5/10/20% do ranking, medindo lift e captura.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6858000" y="4160520"/>
            <a:ext cx="4114800" cy="0"/>
          </a:xfrm>
          <a:prstGeom prst="line">
            <a:avLst/>
          </a:prstGeom>
          <a:noFill/>
          <a:ln w="12700">
            <a:solidFill>
              <a:srgbClr val="DCE8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892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Scorecard sugerido por safra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5394960"/>
            <a:ext cx="1508760" cy="256032"/>
          </a:xfrm>
          <a:prstGeom prst="rect">
            <a:avLst/>
          </a:prstGeom>
          <a:solidFill>
            <a:srgbClr val="DFF7F3"/>
          </a:solidFill>
          <a:ln>
            <a:solidFill>
              <a:srgbClr val="DFF7F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Clientes adquiridos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14600" y="5394960"/>
            <a:ext cx="150876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Retenção M1/M3/M6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343400" y="5394960"/>
            <a:ext cx="1508760" cy="256032"/>
          </a:xfrm>
          <a:prstGeom prst="rect">
            <a:avLst/>
          </a:prstGeom>
          <a:solidFill>
            <a:srgbClr val="DFF7F3"/>
          </a:solidFill>
          <a:ln>
            <a:solidFill>
              <a:srgbClr val="DFF7F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Recompra acumulada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72200" y="5394960"/>
            <a:ext cx="150876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Revenue Index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01000" y="5394960"/>
            <a:ext cx="1508760" cy="256032"/>
          </a:xfrm>
          <a:prstGeom prst="rect">
            <a:avLst/>
          </a:prstGeom>
          <a:solidFill>
            <a:srgbClr val="DFF7F3"/>
          </a:solidFill>
          <a:ln>
            <a:solidFill>
              <a:srgbClr val="DFF7F3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Receita/cliente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829800" y="5394960"/>
            <a:ext cx="1508760" cy="256032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B83"/>
                </a:solidFill>
              </a:rPr>
              <a:t>Delta vs benchmark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" y="2926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7B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38912" y="5029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narrativa final conecta dados transacionais a crescimento orientado por CRM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95097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revisão alinha metodologia, README, notebooks e apresentação executiva.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" y="1353312"/>
            <a:ext cx="11292840" cy="0"/>
          </a:xfrm>
          <a:prstGeom prst="line">
            <a:avLst/>
          </a:prstGeom>
          <a:noFill/>
          <a:ln w="12700">
            <a:solidFill>
              <a:srgbClr val="E6EE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Mensagem final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5486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6324F"/>
                </a:solidFill>
              </a:rPr>
              <a:t>A principal oportunidade está em aumentar a conversão da primeira para a segunda compra, combinando sinais de pagamento, valor, coorte e propensão.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3246120"/>
            <a:ext cx="2468880" cy="0"/>
          </a:xfrm>
          <a:prstGeom prst="line">
            <a:avLst/>
          </a:prstGeom>
          <a:noFill/>
          <a:ln w="38100">
            <a:solidFill>
              <a:srgbClr val="F4A2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160520"/>
            <a:ext cx="292608" cy="292608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7532" y="41696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Governança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88720" y="43342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granularidade + customer_unique_id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20440" y="4160520"/>
            <a:ext cx="292608" cy="292608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0732" y="41696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3192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Retenção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31920" y="43342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mês completo + coortes maduras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292608" cy="292608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3932" y="41696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Modelo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0" y="43342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split mensal + ranking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006840" y="4160520"/>
            <a:ext cx="292608" cy="292608"/>
          </a:xfrm>
          <a:prstGeom prst="ellipse">
            <a:avLst/>
          </a:prstGeom>
          <a:solidFill>
            <a:srgbClr val="02A7A6"/>
          </a:solidFill>
          <a:ln w="12700">
            <a:solidFill>
              <a:srgbClr val="02A7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7132" y="41696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418320" y="40690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324F"/>
                </a:solidFill>
              </a:rPr>
              <a:t>Ação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418320" y="43342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CRM por valor e propensão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" y="5394960"/>
            <a:ext cx="51206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CE8ED">
                <a:alpha val="80000"/>
              </a:srgbClr>
            </a:solidFill>
          </a:ln>
          <a:effectLst>
            <a:outerShdw sx="100000" sy="100000" kx="0" ky="0" algn="bl" rotWithShape="0" blurRad="25400" dist="12700" dir="2700000">
              <a:srgbClr val="000000">
                <a:alpha val="9000"/>
              </a:srgbClr>
            </a:outerShdw>
          </a:effectLst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324F"/>
                </a:solidFill>
              </a:rPr>
              <a:t>Próximo passo
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Executar os seis notebooks revisados em sequência e atualizar eventuais números finais no README e nesta apresentação.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5394960"/>
            <a:ext cx="54864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5440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7B83"/>
                </a:solidFill>
              </a:rPr>
              <a:t>Obrigado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7882128" y="5925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Eduardo Figueiredo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8912" y="6510528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A96A3"/>
                </a:solidFill>
              </a:rPr>
              <a:t>Valores de referência — validar após reexecução dos notebooks revisados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1411712" y="647395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Olist Customer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Customer &amp; Payment Analytics — Executive Presentation</dc:title>
  <dc:subject>Executive presentation revised after notebook updates</dc:subject>
  <dc:creator>Eduardo Figueiredo</dc:creator>
  <cp:lastModifiedBy>Eduardo Figueiredo</cp:lastModifiedBy>
  <cp:revision>1</cp:revision>
  <dcterms:created xsi:type="dcterms:W3CDTF">2026-10-04T19:00:52Z</dcterms:created>
  <dcterms:modified xsi:type="dcterms:W3CDTF">2026-10-04T19:00:52Z</dcterms:modified>
</cp:coreProperties>
</file>